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/>
</p:presentation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theme" Target="theme/theme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457200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zh-CN" sz="440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b="1">
          <a:solidFill>
            <a:schemeClr val="tx1"/>
          </a:solidFill>
          <a:latin typeface="+mj-lt"/>
          <a:ea typeface="+mj-ea"/>
        </a:defRPr>
      </a:lvl1pPr>
    </p:titleStyle>
    <p:bodyStyle>
      <a:lvl1pPr marL="0" indent="-342900" algn="l">
        <a:defRPr sz="2800">
          <a:solidFill>
            <a:schemeClr val="tx1"/>
          </a:solidFill>
          <a:latin typeface="+mn-lt"/>
          <a:ea typeface="+mn-ea"/>
        </a:defRPr>
      </a:lvl1pPr>
      <a:lvl2pPr marL="342900" indent="-342900" algn="l">
        <a:defRPr sz="2400">
          <a:solidFill>
            <a:schemeClr val="tx1"/>
          </a:solidFill>
          <a:latin typeface="+mn-lt"/>
          <a:ea typeface="+mn-ea"/>
        </a:defRPr>
      </a:lvl2pPr>
      <a:lvl3pPr marL="685800" indent="-342900" algn="l">
        <a:defRPr sz="2000">
          <a:solidFill>
            <a:schemeClr val="tx1"/>
          </a:solidFill>
          <a:latin typeface="+mn-lt"/>
          <a:ea typeface="+mn-ea"/>
        </a:defRPr>
      </a:lvl3pPr>
      <a:lvl4pPr marL="1028700" indent="-342900" algn="l">
        <a:defRPr sz="1800">
          <a:solidFill>
            <a:schemeClr val="tx1"/>
          </a:solidFill>
          <a:latin typeface="+mn-lt"/>
          <a:ea typeface="+mn-ea"/>
        </a:defRPr>
      </a:lvl4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da2e0f764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f6f065ec8ee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4"/>
          <p:cNvSpPr/>
          <p:nvPr/>
        </p:nvSpPr>
        <p:spPr>
          <a:xfrm>
            <a:off x="4663440" y="0"/>
            <a:ext cx="91440" cy="685800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5"/>
          <p:cNvSpPr/>
          <p:nvPr/>
        </p:nvSpPr>
        <p:spPr>
          <a:xfrm>
            <a:off x="777240" y="1051560"/>
            <a:ext cx="3108960" cy="1965960"/>
          </a:xfrm>
          <a:prstGeom prst="roundRect">
            <a:avLst>
              <a:gd name="adj" fmla="val 5000"/>
            </a:avLst>
          </a:prstGeom>
          <a:solidFill>
            <a:srgbClr val="0F6B45"/>
          </a:solidFill>
          <a:ln w="15240" cap="flat">
            <a:solidFill>
              <a:srgbClr val="2E8F6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" name="Text6"/>
          <p:cNvSpPr txBox="1"/>
          <p:nvPr/>
        </p:nvSpPr>
        <p:spPr>
          <a:xfrm>
            <a:off x="777240" y="1463040"/>
            <a:ext cx="3108960" cy="8229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4000" b="1" spc="600" dirty="0">
                <a:solidFill>
                  <a:srgbClr val="FFFFFF"/>
                </a:solidFill>
                <a:latin typeface="Consolas"/>
                <a:ea typeface="Consolas"/>
              </a:rPr>
              <a:t>TIM2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777240" y="2212848"/>
            <a:ext cx="3108960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500" dirty="0">
                <a:solidFill>
                  <a:srgbClr val="BEE6D2"/>
                </a:solidFill>
                <a:latin typeface="Consolas"/>
                <a:ea typeface="Consolas"/>
              </a:rPr>
              <a:t>72 MHz  →  1 ms</a:t>
            </a:r>
          </a:p>
        </p:txBody>
      </p:sp>
      <p:sp>
        <p:nvSpPr>
          <p:cNvPr id="8" name="Shape8"/>
          <p:cNvSpPr/>
          <p:nvPr/>
        </p:nvSpPr>
        <p:spPr>
          <a:xfrm>
            <a:off x="137160" y="1234440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Shape9"/>
          <p:cNvSpPr/>
          <p:nvPr/>
        </p:nvSpPr>
        <p:spPr>
          <a:xfrm>
            <a:off x="3886200" y="1234440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Shape10"/>
          <p:cNvSpPr/>
          <p:nvPr/>
        </p:nvSpPr>
        <p:spPr>
          <a:xfrm>
            <a:off x="137160" y="1563624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" name="Shape11"/>
          <p:cNvSpPr/>
          <p:nvPr/>
        </p:nvSpPr>
        <p:spPr>
          <a:xfrm>
            <a:off x="3886200" y="1563624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12"/>
          <p:cNvSpPr/>
          <p:nvPr/>
        </p:nvSpPr>
        <p:spPr>
          <a:xfrm>
            <a:off x="137160" y="1892808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13"/>
          <p:cNvSpPr/>
          <p:nvPr/>
        </p:nvSpPr>
        <p:spPr>
          <a:xfrm>
            <a:off x="3886200" y="1892808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Shape14"/>
          <p:cNvSpPr/>
          <p:nvPr/>
        </p:nvSpPr>
        <p:spPr>
          <a:xfrm>
            <a:off x="137160" y="2221992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15"/>
          <p:cNvSpPr/>
          <p:nvPr/>
        </p:nvSpPr>
        <p:spPr>
          <a:xfrm>
            <a:off x="3886200" y="2221992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16"/>
          <p:cNvSpPr/>
          <p:nvPr/>
        </p:nvSpPr>
        <p:spPr>
          <a:xfrm>
            <a:off x="137160" y="2551176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Shape17"/>
          <p:cNvSpPr/>
          <p:nvPr/>
        </p:nvSpPr>
        <p:spPr>
          <a:xfrm>
            <a:off x="3886200" y="2551176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18"/>
          <p:cNvSpPr/>
          <p:nvPr/>
        </p:nvSpPr>
        <p:spPr>
          <a:xfrm>
            <a:off x="137160" y="2880360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19"/>
          <p:cNvSpPr/>
          <p:nvPr/>
        </p:nvSpPr>
        <p:spPr>
          <a:xfrm>
            <a:off x="3886200" y="2880360"/>
            <a:ext cx="64008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cxnSp>
        <p:nvCxnSpPr>
          <p:cNvPr id="20" name="Line20"/>
          <p:cNvCxnSpPr/>
          <p:nvPr/>
        </p:nvCxnSpPr>
        <p:spPr>
          <a:xfrm>
            <a:off x="822960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1" name="Line21"/>
          <p:cNvCxnSpPr/>
          <p:nvPr/>
        </p:nvCxnSpPr>
        <p:spPr>
          <a:xfrm>
            <a:off x="923544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2" name="Line22"/>
          <p:cNvCxnSpPr/>
          <p:nvPr/>
        </p:nvCxnSpPr>
        <p:spPr>
          <a:xfrm>
            <a:off x="1024128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3" name="Line23"/>
          <p:cNvCxnSpPr/>
          <p:nvPr/>
        </p:nvCxnSpPr>
        <p:spPr>
          <a:xfrm>
            <a:off x="1124712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4" name="Line24"/>
          <p:cNvCxnSpPr/>
          <p:nvPr/>
        </p:nvCxnSpPr>
        <p:spPr>
          <a:xfrm>
            <a:off x="1225296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5" name="Line25"/>
          <p:cNvCxnSpPr/>
          <p:nvPr/>
        </p:nvCxnSpPr>
        <p:spPr>
          <a:xfrm>
            <a:off x="1325880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6" name="Line26"/>
          <p:cNvCxnSpPr/>
          <p:nvPr/>
        </p:nvCxnSpPr>
        <p:spPr>
          <a:xfrm>
            <a:off x="1426464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7" name="Line27"/>
          <p:cNvCxnSpPr/>
          <p:nvPr/>
        </p:nvCxnSpPr>
        <p:spPr>
          <a:xfrm>
            <a:off x="1527048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8" name="Line28"/>
          <p:cNvCxnSpPr/>
          <p:nvPr/>
        </p:nvCxnSpPr>
        <p:spPr>
          <a:xfrm>
            <a:off x="1627632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29" name="Line29"/>
          <p:cNvCxnSpPr/>
          <p:nvPr/>
        </p:nvCxnSpPr>
        <p:spPr>
          <a:xfrm>
            <a:off x="1728216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0" name="Line30"/>
          <p:cNvCxnSpPr/>
          <p:nvPr/>
        </p:nvCxnSpPr>
        <p:spPr>
          <a:xfrm>
            <a:off x="1828800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1" name="Line31"/>
          <p:cNvCxnSpPr/>
          <p:nvPr/>
        </p:nvCxnSpPr>
        <p:spPr>
          <a:xfrm>
            <a:off x="1929384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2" name="Line32"/>
          <p:cNvCxnSpPr/>
          <p:nvPr/>
        </p:nvCxnSpPr>
        <p:spPr>
          <a:xfrm>
            <a:off x="2029968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3" name="Line33"/>
          <p:cNvCxnSpPr/>
          <p:nvPr/>
        </p:nvCxnSpPr>
        <p:spPr>
          <a:xfrm>
            <a:off x="2130552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4" name="Line34"/>
          <p:cNvCxnSpPr/>
          <p:nvPr/>
        </p:nvCxnSpPr>
        <p:spPr>
          <a:xfrm>
            <a:off x="2231136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5" name="Line35"/>
          <p:cNvCxnSpPr/>
          <p:nvPr/>
        </p:nvCxnSpPr>
        <p:spPr>
          <a:xfrm>
            <a:off x="2331720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6" name="Line36"/>
          <p:cNvCxnSpPr/>
          <p:nvPr/>
        </p:nvCxnSpPr>
        <p:spPr>
          <a:xfrm>
            <a:off x="2432304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7" name="Line37"/>
          <p:cNvCxnSpPr/>
          <p:nvPr/>
        </p:nvCxnSpPr>
        <p:spPr>
          <a:xfrm>
            <a:off x="2532888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8" name="Line38"/>
          <p:cNvCxnSpPr/>
          <p:nvPr/>
        </p:nvCxnSpPr>
        <p:spPr>
          <a:xfrm>
            <a:off x="2633472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39" name="Line39"/>
          <p:cNvCxnSpPr/>
          <p:nvPr/>
        </p:nvCxnSpPr>
        <p:spPr>
          <a:xfrm>
            <a:off x="2734056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40" name="Line40"/>
          <p:cNvCxnSpPr/>
          <p:nvPr/>
        </p:nvCxnSpPr>
        <p:spPr>
          <a:xfrm>
            <a:off x="2834640" y="402336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41" name="Line41"/>
          <p:cNvCxnSpPr/>
          <p:nvPr/>
        </p:nvCxnSpPr>
        <p:spPr>
          <a:xfrm>
            <a:off x="2935224" y="4023360"/>
            <a:ext cx="100584" cy="-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42" name="Line42"/>
          <p:cNvCxnSpPr/>
          <p:nvPr/>
        </p:nvCxnSpPr>
        <p:spPr>
          <a:xfrm>
            <a:off x="3035808" y="3703320"/>
            <a:ext cx="100584" cy="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cxnSp>
        <p:nvCxnSpPr>
          <p:cNvPr id="43" name="Line43"/>
          <p:cNvCxnSpPr/>
          <p:nvPr/>
        </p:nvCxnSpPr>
        <p:spPr>
          <a:xfrm>
            <a:off x="3136392" y="3703320"/>
            <a:ext cx="100584" cy="320040"/>
          </a:xfrm>
          <a:prstGeom prst="line">
            <a:avLst/>
          </a:prstGeom>
          <a:ln w="22860" cap="flat">
            <a:solidFill>
              <a:srgbClr val="2E8F68"/>
            </a:solidFill>
          </a:ln>
        </p:spPr>
      </p:cxnSp>
      <p:sp>
        <p:nvSpPr>
          <p:cNvPr id="44" name="Text44"/>
          <p:cNvSpPr txBox="1"/>
          <p:nvPr/>
        </p:nvSpPr>
        <p:spPr>
          <a:xfrm>
            <a:off x="777240" y="4224528"/>
            <a:ext cx="329184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00" dirty="0">
                <a:solidFill>
                  <a:srgbClr val="9FD8BE"/>
                </a:solidFill>
                <a:latin typeface="Consolas"/>
                <a:ea typeface="Consolas"/>
              </a:rPr>
              <a:t>每 1 ms 一次心跳</a:t>
            </a:r>
          </a:p>
        </p:txBody>
      </p:sp>
      <p:sp>
        <p:nvSpPr>
          <p:cNvPr id="45" name="Text45"/>
          <p:cNvSpPr txBox="1"/>
          <p:nvPr/>
        </p:nvSpPr>
        <p:spPr>
          <a:xfrm>
            <a:off x="777240" y="5760720"/>
            <a:ext cx="329184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00" dirty="0">
                <a:solidFill>
                  <a:srgbClr val="9FD8BE"/>
                </a:solidFill>
                <a:latin typeface="Microsoft YaHei"/>
                <a:ea typeface="Microsoft YaHei"/>
              </a:rPr>
              <a:t>2026 纳新 · 教学部</a:t>
            </a:r>
          </a:p>
        </p:txBody>
      </p:sp>
      <p:sp>
        <p:nvSpPr>
          <p:cNvPr id="46" name="Text46"/>
          <p:cNvSpPr txBox="1"/>
          <p:nvPr/>
        </p:nvSpPr>
        <p:spPr>
          <a:xfrm>
            <a:off x="5257800" y="1234440"/>
            <a:ext cx="6309360" cy="36576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00" b="1" spc="200" dirty="0">
                <a:solidFill>
                  <a:srgbClr val="158F63"/>
                </a:solidFill>
                <a:latin typeface="Microsoft YaHei"/>
                <a:ea typeface="Microsoft YaHei"/>
              </a:rPr>
              <a:t>机协教学部 · 内训示范课件</a:t>
            </a:r>
          </a:p>
        </p:txBody>
      </p:sp>
      <p:sp>
        <p:nvSpPr>
          <p:cNvPr id="47" name="Text47"/>
          <p:cNvSpPr txBox="1"/>
          <p:nvPr/>
        </p:nvSpPr>
        <p:spPr>
          <a:xfrm>
            <a:off x="5230368" y="1691640"/>
            <a:ext cx="6492240" cy="173736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4600" b="1" dirty="0">
                <a:solidFill>
                  <a:srgbClr val="16241D"/>
                </a:solidFill>
                <a:latin typeface="Microsoft YaHei"/>
                <a:ea typeface="Microsoft YaHei"/>
              </a:rPr>
              <a:t>STM32 定时器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4600" b="1" dirty="0">
                <a:solidFill>
                  <a:srgbClr val="16241D"/>
                </a:solidFill>
                <a:latin typeface="Microsoft YaHei"/>
                <a:ea typeface="Microsoft YaHei"/>
              </a:rPr>
              <a:t>与中断入门</a:t>
            </a:r>
          </a:p>
        </p:txBody>
      </p:sp>
      <p:sp>
        <p:nvSpPr>
          <p:cNvPr id="48" name="Shape48"/>
          <p:cNvSpPr/>
          <p:nvPr/>
        </p:nvSpPr>
        <p:spPr>
          <a:xfrm>
            <a:off x="5285232" y="3456432"/>
            <a:ext cx="1463040" cy="6858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9" name="Text49"/>
          <p:cNvSpPr txBox="1"/>
          <p:nvPr/>
        </p:nvSpPr>
        <p:spPr>
          <a:xfrm>
            <a:off x="5257800" y="3675888"/>
            <a:ext cx="6400800" cy="82296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20000"/>
              </a:lnSpc>
            </a:pPr>
            <a:r>
              <a:rPr lang="zh-CN" altLang="en-US" sz="1900" dirty="0">
                <a:solidFill>
                  <a:srgbClr val="2B3D34"/>
                </a:solidFill>
                <a:latin typeface="Microsoft YaHei"/>
                <a:ea typeface="Microsoft YaHei"/>
              </a:rPr>
              <a:t>从 “delay 阻塞” 到 “1 ms 心跳”</a:t>
            </a:r>
          </a:p>
          <a:p>
            <a:pPr algn="l" marL="0" indent="0">
              <a:lnSpc>
                <a:spcPct val="12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63766C"/>
                </a:solidFill>
                <a:latin typeface="Microsoft YaHei"/>
                <a:ea typeface="Microsoft YaHei"/>
              </a:rPr>
              <a:t>把延时交给硬件，把注意力留给真正的问题</a:t>
            </a:r>
          </a:p>
        </p:txBody>
      </p:sp>
      <p:sp>
        <p:nvSpPr>
          <p:cNvPr id="50" name="Text50"/>
          <p:cNvSpPr txBox="1"/>
          <p:nvPr/>
        </p:nvSpPr>
        <p:spPr>
          <a:xfrm>
            <a:off x="5257800" y="5074920"/>
            <a:ext cx="6400800" cy="9144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35000"/>
              </a:lnSpc>
            </a:pPr>
            <a:r>
              <a:rPr lang="zh-CN" altLang="en-US" sz="1250" dirty="0">
                <a:solidFill>
                  <a:srgbClr val="63766C"/>
                </a:solidFill>
                <a:latin typeface="Microsoft YaHei"/>
                <a:ea typeface="Microsoft YaHei"/>
              </a:rPr>
              <a:t>主讲：储锐超    |    学号：3260101888</a:t>
            </a:r>
          </a:p>
          <a:p>
            <a:pPr algn="l" marL="0" indent="0">
              <a:lnSpc>
                <a:spcPct val="135000"/>
              </a:lnSpc>
            </a:pPr>
            <a:r>
              <a:rPr lang="zh-CN" altLang="en-US" sz="1250" dirty="0">
                <a:solidFill>
                  <a:srgbClr val="63766C"/>
                </a:solidFill>
                <a:latin typeface="Microsoft YaHei"/>
                <a:ea typeface="Microsoft YaHei"/>
              </a:rPr>
              <a:t>面向零基础：会一点点 C 就能跟上</a:t>
            </a:r>
          </a:p>
        </p:txBody>
      </p:sp>
      <p:sp>
        <p:nvSpPr>
          <p:cNvPr id="51" name="Text51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52" name="Text52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9FD8BE"/>
                </a:solidFill>
                <a:latin typeface="Microsoft YaHei"/>
                <a:ea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CONTENTS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8458200" y="960120"/>
            <a:ext cx="3154680" cy="4892040"/>
          </a:xfrm>
          <a:prstGeom prst="roundRect">
            <a:avLst>
              <a:gd name="adj" fmla="val 5000"/>
            </a:avLst>
          </a:prstGeom>
          <a:solidFill>
            <a:srgbClr val="F4FA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Text7"/>
          <p:cNvSpPr txBox="1"/>
          <p:nvPr/>
        </p:nvSpPr>
        <p:spPr>
          <a:xfrm>
            <a:off x="8732520" y="1234440"/>
            <a:ext cx="2743200" cy="4572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400" b="1" dirty="0">
                <a:solidFill>
                  <a:srgbClr val="0B5D3B"/>
                </a:solidFill>
                <a:latin typeface="Microsoft YaHei"/>
                <a:ea typeface="Microsoft YaHei"/>
              </a:rPr>
              <a:t>十分钟，六个问题</a:t>
            </a:r>
          </a:p>
          <a:p>
            <a:pPr algn="l" marL="0" indent="0">
              <a:lnSpc>
                <a:spcPct val="115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讲 5 分钟 + 动手 5 分钟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8732520" y="2157984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①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定时器是什么、能解决什么问题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8732520" y="2724912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②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时钟 / PSC / ARR 怎么配合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8732520" y="3291840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③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CubeMX 里四步配置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8732520" y="3858768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④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回调函数与 tick 心跳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732520" y="4425696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⑤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五个最容易踩的坑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8732520" y="4992624"/>
            <a:ext cx="2743200" cy="41148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⑥  </a:t>
            </a: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课堂练习（改代码）</a:t>
            </a:r>
          </a:p>
        </p:txBody>
      </p:sp>
      <p:sp>
        <p:nvSpPr>
          <p:cNvPr id="14" name="Shape14"/>
          <p:cNvSpPr/>
          <p:nvPr/>
        </p:nvSpPr>
        <p:spPr>
          <a:xfrm>
            <a:off x="777240" y="168249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15"/>
          <p:cNvSpPr/>
          <p:nvPr/>
        </p:nvSpPr>
        <p:spPr>
          <a:xfrm>
            <a:off x="795528" y="170078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16"/>
          <p:cNvSpPr txBox="1"/>
          <p:nvPr/>
        </p:nvSpPr>
        <p:spPr>
          <a:xfrm>
            <a:off x="795528" y="171907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581912" y="171907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为什么需要定时器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delay 把 CPU 占住了</a:t>
            </a:r>
          </a:p>
        </p:txBody>
      </p:sp>
      <p:sp>
        <p:nvSpPr>
          <p:cNvPr id="18" name="Shape18"/>
          <p:cNvSpPr/>
          <p:nvPr/>
        </p:nvSpPr>
        <p:spPr>
          <a:xfrm>
            <a:off x="777240" y="241401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19"/>
          <p:cNvSpPr/>
          <p:nvPr/>
        </p:nvSpPr>
        <p:spPr>
          <a:xfrm>
            <a:off x="795528" y="243230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20"/>
          <p:cNvSpPr txBox="1"/>
          <p:nvPr/>
        </p:nvSpPr>
        <p:spPr>
          <a:xfrm>
            <a:off x="795528" y="245059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581912" y="245059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定时器怎么工作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时钟 → 分频 → 计数 → 重装</a:t>
            </a:r>
          </a:p>
        </p:txBody>
      </p:sp>
      <p:sp>
        <p:nvSpPr>
          <p:cNvPr id="22" name="Shape22"/>
          <p:cNvSpPr/>
          <p:nvPr/>
        </p:nvSpPr>
        <p:spPr>
          <a:xfrm>
            <a:off x="777240" y="314553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3" name="Shape23"/>
          <p:cNvSpPr/>
          <p:nvPr/>
        </p:nvSpPr>
        <p:spPr>
          <a:xfrm>
            <a:off x="795528" y="316382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" name="Text24"/>
          <p:cNvSpPr txBox="1"/>
          <p:nvPr/>
        </p:nvSpPr>
        <p:spPr>
          <a:xfrm>
            <a:off x="795528" y="318211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1581912" y="318211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CubeMX 配置四步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PSC / ARR / NVIC / 生成代码</a:t>
            </a:r>
          </a:p>
        </p:txBody>
      </p:sp>
      <p:sp>
        <p:nvSpPr>
          <p:cNvPr id="26" name="Shape26"/>
          <p:cNvSpPr/>
          <p:nvPr/>
        </p:nvSpPr>
        <p:spPr>
          <a:xfrm>
            <a:off x="777240" y="387705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7" name="Shape27"/>
          <p:cNvSpPr/>
          <p:nvPr/>
        </p:nvSpPr>
        <p:spPr>
          <a:xfrm>
            <a:off x="795528" y="389534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8" name="Text28"/>
          <p:cNvSpPr txBox="1"/>
          <p:nvPr/>
        </p:nvSpPr>
        <p:spPr>
          <a:xfrm>
            <a:off x="795528" y="391363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9" name="Text29"/>
          <p:cNvSpPr txBox="1"/>
          <p:nvPr/>
        </p:nvSpPr>
        <p:spPr>
          <a:xfrm>
            <a:off x="1581912" y="391363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代码与中断回调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只有两行启动代码</a:t>
            </a:r>
          </a:p>
        </p:txBody>
      </p:sp>
      <p:sp>
        <p:nvSpPr>
          <p:cNvPr id="30" name="Shape30"/>
          <p:cNvSpPr/>
          <p:nvPr/>
        </p:nvSpPr>
        <p:spPr>
          <a:xfrm>
            <a:off x="777240" y="460857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1" name="Shape31"/>
          <p:cNvSpPr/>
          <p:nvPr/>
        </p:nvSpPr>
        <p:spPr>
          <a:xfrm>
            <a:off x="795528" y="462686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" name="Text32"/>
          <p:cNvSpPr txBox="1"/>
          <p:nvPr/>
        </p:nvSpPr>
        <p:spPr>
          <a:xfrm>
            <a:off x="795528" y="464515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3" name="Text33"/>
          <p:cNvSpPr txBox="1"/>
          <p:nvPr/>
        </p:nvSpPr>
        <p:spPr>
          <a:xfrm>
            <a:off x="1581912" y="464515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五个常见坑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volatile、回调名、别干重活</a:t>
            </a:r>
          </a:p>
        </p:txBody>
      </p:sp>
      <p:sp>
        <p:nvSpPr>
          <p:cNvPr id="34" name="Shape34"/>
          <p:cNvSpPr/>
          <p:nvPr/>
        </p:nvSpPr>
        <p:spPr>
          <a:xfrm>
            <a:off x="777240" y="5340096"/>
            <a:ext cx="7223760" cy="6217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5" name="Shape35"/>
          <p:cNvSpPr/>
          <p:nvPr/>
        </p:nvSpPr>
        <p:spPr>
          <a:xfrm>
            <a:off x="795528" y="5358384"/>
            <a:ext cx="621792" cy="585216"/>
          </a:xfrm>
          <a:prstGeom prst="roundRect">
            <a:avLst>
              <a:gd name="adj" fmla="val 12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6" name="Text36"/>
          <p:cNvSpPr txBox="1"/>
          <p:nvPr/>
        </p:nvSpPr>
        <p:spPr>
          <a:xfrm>
            <a:off x="795528" y="5376672"/>
            <a:ext cx="621792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50" b="1" dirty="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7" name="Text37"/>
          <p:cNvSpPr txBox="1"/>
          <p:nvPr/>
        </p:nvSpPr>
        <p:spPr>
          <a:xfrm>
            <a:off x="1581912" y="5376672"/>
            <a:ext cx="6263640" cy="5486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课堂练习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不用 delay 让 LED 慢闪</a:t>
            </a:r>
          </a:p>
        </p:txBody>
      </p:sp>
      <p:sp>
        <p:nvSpPr>
          <p:cNvPr id="38" name="Text38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39" name="Text39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01 / 回顾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回顾：我们的第一个程序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664208"/>
            <a:ext cx="10634472" cy="731520"/>
          </a:xfrm>
          <a:prstGeom prst="roundRect">
            <a:avLst>
              <a:gd name="adj" fmla="val 10000"/>
            </a:avLst>
          </a:prstGeom>
          <a:solidFill>
            <a:srgbClr val="F1F5F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Text7"/>
          <p:cNvSpPr txBox="1"/>
          <p:nvPr/>
        </p:nvSpPr>
        <p:spPr>
          <a:xfrm>
            <a:off x="1051560" y="1737360"/>
            <a:ext cx="10058400" cy="58521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15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点灯 + delay：</a:t>
            </a:r>
            <a:r>
              <a:rPr lang="zh-CN" altLang="en-US" sz="1300" dirty="0">
                <a:solidFill>
                  <a:srgbClr val="2B3D34"/>
                </a:solidFill>
                <a:latin typeface="Microsoft YaHei"/>
                <a:ea typeface="Microsoft YaHei"/>
              </a:rPr>
              <a:t>HAL_Delay(500) 让 LED 每 500 ms 闪一次 —— 但这 500 ms 里，CPU 只是在“原地数圈”。</a:t>
            </a:r>
          </a:p>
        </p:txBody>
      </p:sp>
      <p:sp>
        <p:nvSpPr>
          <p:cNvPr id="8" name="Shape8"/>
          <p:cNvSpPr/>
          <p:nvPr/>
        </p:nvSpPr>
        <p:spPr>
          <a:xfrm>
            <a:off x="777240" y="2697480"/>
            <a:ext cx="10634472" cy="100584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143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" name="Shape9"/>
          <p:cNvSpPr/>
          <p:nvPr/>
        </p:nvSpPr>
        <p:spPr>
          <a:xfrm>
            <a:off x="777240" y="2788920"/>
            <a:ext cx="50292" cy="822960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10"/>
          <p:cNvSpPr txBox="1"/>
          <p:nvPr/>
        </p:nvSpPr>
        <p:spPr>
          <a:xfrm>
            <a:off x="960120" y="2752344"/>
            <a:ext cx="10323576" cy="89611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CPU 被占住</a:t>
            </a:r>
          </a:p>
          <a:p>
            <a:pPr algn="l" marL="0" indent="0">
              <a:lnSpc>
                <a:spcPct val="118000"/>
              </a:lnSpc>
              <a:spcBef>
                <a:spcPts val="400"/>
              </a:spcBef>
            </a:pPr>
            <a:r>
              <a:rPr lang="zh-CN" altLang="en-US" sz="1150" dirty="0">
                <a:solidFill>
                  <a:srgbClr val="2B3D34"/>
                </a:solidFill>
                <a:latin typeface="Microsoft YaHei"/>
                <a:ea typeface="Microsoft YaHei"/>
              </a:rPr>
              <a:t>想同时读传感器、跑巡线，就再也塞不进别的任务。</a:t>
            </a:r>
          </a:p>
        </p:txBody>
      </p:sp>
      <p:sp>
        <p:nvSpPr>
          <p:cNvPr id="11" name="Shape11"/>
          <p:cNvSpPr/>
          <p:nvPr/>
        </p:nvSpPr>
        <p:spPr>
          <a:xfrm>
            <a:off x="777240" y="3867912"/>
            <a:ext cx="10634472" cy="100584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143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12"/>
          <p:cNvSpPr/>
          <p:nvPr/>
        </p:nvSpPr>
        <p:spPr>
          <a:xfrm>
            <a:off x="777240" y="3959352"/>
            <a:ext cx="50292" cy="82296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13"/>
          <p:cNvSpPr txBox="1"/>
          <p:nvPr/>
        </p:nvSpPr>
        <p:spPr>
          <a:xfrm>
            <a:off x="960120" y="3922776"/>
            <a:ext cx="10323576" cy="89611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时间不准</a:t>
            </a:r>
          </a:p>
          <a:p>
            <a:pPr algn="l" marL="0" indent="0">
              <a:lnSpc>
                <a:spcPct val="118000"/>
              </a:lnSpc>
              <a:spcBef>
                <a:spcPts val="400"/>
              </a:spcBef>
            </a:pPr>
            <a:r>
              <a:rPr lang="zh-CN" altLang="en-US" sz="1150" dirty="0">
                <a:solidFill>
                  <a:srgbClr val="2B3D34"/>
                </a:solidFill>
                <a:latin typeface="Microsoft YaHei"/>
                <a:ea typeface="Microsoft YaHei"/>
              </a:rPr>
              <a:t>多个 delay 叠加后，实际周期越来越偏，越跑越飘。</a:t>
            </a:r>
          </a:p>
        </p:txBody>
      </p:sp>
      <p:sp>
        <p:nvSpPr>
          <p:cNvPr id="14" name="Shape14"/>
          <p:cNvSpPr/>
          <p:nvPr/>
        </p:nvSpPr>
        <p:spPr>
          <a:xfrm>
            <a:off x="777240" y="5038344"/>
            <a:ext cx="10634472" cy="100584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143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15"/>
          <p:cNvSpPr/>
          <p:nvPr/>
        </p:nvSpPr>
        <p:spPr>
          <a:xfrm>
            <a:off x="777240" y="5129784"/>
            <a:ext cx="50292" cy="8229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16"/>
          <p:cNvSpPr txBox="1"/>
          <p:nvPr/>
        </p:nvSpPr>
        <p:spPr>
          <a:xfrm>
            <a:off x="960120" y="5093208"/>
            <a:ext cx="10323576" cy="89611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不好扩展</a:t>
            </a:r>
          </a:p>
          <a:p>
            <a:pPr algn="l" marL="0" indent="0">
              <a:lnSpc>
                <a:spcPct val="118000"/>
              </a:lnSpc>
              <a:spcBef>
                <a:spcPts val="400"/>
              </a:spcBef>
            </a:pPr>
            <a:r>
              <a:rPr lang="zh-CN" altLang="en-US" sz="1150" dirty="0">
                <a:solidFill>
                  <a:srgbClr val="2B3D34"/>
                </a:solidFill>
                <a:latin typeface="Microsoft YaHei"/>
                <a:ea typeface="Microsoft YaHei"/>
              </a:rPr>
              <a:t>每加一个任务，都要把整套时序重算一遍。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02 / 对比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阻塞式延时  vs  定时器中断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783080"/>
            <a:ext cx="5074920" cy="3977640"/>
          </a:xfrm>
          <a:prstGeom prst="roundRect">
            <a:avLst>
              <a:gd name="adj" fmla="val 5000"/>
            </a:avLst>
          </a:prstGeom>
          <a:solidFill>
            <a:srgbClr val="FBEEEC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1033272" y="2011680"/>
            <a:ext cx="4562856" cy="566928"/>
          </a:xfrm>
          <a:prstGeom prst="roundRect">
            <a:avLst>
              <a:gd name="adj" fmla="val 16000"/>
            </a:avLst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1033272" y="2048256"/>
            <a:ext cx="4562856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现在的做法：delay</a:t>
            </a:r>
          </a:p>
        </p:txBody>
      </p:sp>
      <p:sp>
        <p:nvSpPr>
          <p:cNvPr id="9" name="Shape9"/>
          <p:cNvSpPr/>
          <p:nvPr/>
        </p:nvSpPr>
        <p:spPr>
          <a:xfrm>
            <a:off x="1088136" y="2871216"/>
            <a:ext cx="82296" cy="384048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10"/>
          <p:cNvSpPr txBox="1"/>
          <p:nvPr/>
        </p:nvSpPr>
        <p:spPr>
          <a:xfrm>
            <a:off x="1280160" y="2761488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CPU 原地空转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500 ms 里什么都干不了</a:t>
            </a:r>
          </a:p>
        </p:txBody>
      </p:sp>
      <p:sp>
        <p:nvSpPr>
          <p:cNvPr id="11" name="Shape11"/>
          <p:cNvSpPr/>
          <p:nvPr/>
        </p:nvSpPr>
        <p:spPr>
          <a:xfrm>
            <a:off x="1088136" y="3803904"/>
            <a:ext cx="82296" cy="384048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1280160" y="3694176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只能串行做一件事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任务一多就互相打架</a:t>
            </a:r>
          </a:p>
        </p:txBody>
      </p:sp>
      <p:sp>
        <p:nvSpPr>
          <p:cNvPr id="13" name="Shape13"/>
          <p:cNvSpPr/>
          <p:nvPr/>
        </p:nvSpPr>
        <p:spPr>
          <a:xfrm>
            <a:off x="1088136" y="4736592"/>
            <a:ext cx="82296" cy="384048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14"/>
          <p:cNvSpPr txBox="1"/>
          <p:nvPr/>
        </p:nvSpPr>
        <p:spPr>
          <a:xfrm>
            <a:off x="1280160" y="4626864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时间是“数循环”数出来的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主频一变就不准</a:t>
            </a:r>
          </a:p>
        </p:txBody>
      </p:sp>
      <p:sp>
        <p:nvSpPr>
          <p:cNvPr id="15" name="Shape15"/>
          <p:cNvSpPr/>
          <p:nvPr/>
        </p:nvSpPr>
        <p:spPr>
          <a:xfrm>
            <a:off x="6336792" y="1783080"/>
            <a:ext cx="5074920" cy="3977640"/>
          </a:xfrm>
          <a:prstGeom prst="roundRect">
            <a:avLst>
              <a:gd name="adj" fmla="val 5000"/>
            </a:avLst>
          </a:prstGeom>
          <a:solidFill>
            <a:srgbClr val="F4FAF7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16"/>
          <p:cNvSpPr/>
          <p:nvPr/>
        </p:nvSpPr>
        <p:spPr>
          <a:xfrm>
            <a:off x="6592824" y="2011680"/>
            <a:ext cx="4562856" cy="566928"/>
          </a:xfrm>
          <a:prstGeom prst="roundRect">
            <a:avLst>
              <a:gd name="adj" fmla="val 16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17"/>
          <p:cNvSpPr txBox="1"/>
          <p:nvPr/>
        </p:nvSpPr>
        <p:spPr>
          <a:xfrm>
            <a:off x="6592824" y="2048256"/>
            <a:ext cx="4562856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我们要的做法：定时器中断</a:t>
            </a:r>
          </a:p>
        </p:txBody>
      </p:sp>
      <p:sp>
        <p:nvSpPr>
          <p:cNvPr id="18" name="Shape18"/>
          <p:cNvSpPr/>
          <p:nvPr/>
        </p:nvSpPr>
        <p:spPr>
          <a:xfrm>
            <a:off x="6647688" y="2871216"/>
            <a:ext cx="82296" cy="384048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Text19"/>
          <p:cNvSpPr txBox="1"/>
          <p:nvPr/>
        </p:nvSpPr>
        <p:spPr>
          <a:xfrm>
            <a:off x="6839712" y="2761488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硬件在后台自动数数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不占用主循环时间</a:t>
            </a:r>
          </a:p>
        </p:txBody>
      </p:sp>
      <p:sp>
        <p:nvSpPr>
          <p:cNvPr id="20" name="Shape20"/>
          <p:cNvSpPr/>
          <p:nvPr/>
        </p:nvSpPr>
        <p:spPr>
          <a:xfrm>
            <a:off x="6647688" y="3803904"/>
            <a:ext cx="82296" cy="384048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21"/>
          <p:cNvSpPr txBox="1"/>
          <p:nvPr/>
        </p:nvSpPr>
        <p:spPr>
          <a:xfrm>
            <a:off x="6839712" y="3694176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到点自动触发回调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到点就“敲一下”CPU</a:t>
            </a:r>
          </a:p>
        </p:txBody>
      </p:sp>
      <p:sp>
        <p:nvSpPr>
          <p:cNvPr id="22" name="Shape22"/>
          <p:cNvSpPr/>
          <p:nvPr/>
        </p:nvSpPr>
        <p:spPr>
          <a:xfrm>
            <a:off x="6647688" y="4736592"/>
            <a:ext cx="82296" cy="384048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23"/>
          <p:cNvSpPr txBox="1"/>
          <p:nvPr/>
        </p:nvSpPr>
        <p:spPr>
          <a:xfrm>
            <a:off x="6839712" y="4626864"/>
            <a:ext cx="4297680" cy="56692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50" b="1" dirty="0">
                <a:solidFill>
                  <a:srgbClr val="16241D"/>
                </a:solidFill>
                <a:latin typeface="Microsoft YaHei"/>
                <a:ea typeface="Microsoft YaHei"/>
              </a:rPr>
              <a:t>主循环专心做事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63766C"/>
                </a:solidFill>
                <a:latin typeface="Microsoft YaHei"/>
                <a:ea typeface="Microsoft YaHei"/>
              </a:rPr>
              <a:t>时间是硬件给的，很“硬”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777240" y="5870448"/>
            <a:ext cx="10634472" cy="38404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0B5D3B"/>
                </a:solidFill>
                <a:latin typeface="Microsoft YaHei"/>
                <a:ea typeface="Microsoft YaHei"/>
              </a:rPr>
              <a:t>一句话：</a:t>
            </a:r>
            <a:r>
              <a:rPr lang="zh-CN" altLang="en-US" sz="1250" dirty="0">
                <a:solidFill>
                  <a:srgbClr val="2B3D34"/>
                </a:solidFill>
                <a:latin typeface="Microsoft YaHei"/>
                <a:ea typeface="Microsoft YaHei"/>
              </a:rPr>
              <a:t>把“等时间”这件事从 CPU 手里拿走，交给定时器。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3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4"/>
          <p:cNvSpPr txBox="1"/>
          <p:nvPr/>
        </p:nvSpPr>
        <p:spPr>
          <a:xfrm>
            <a:off x="822960" y="1417320"/>
            <a:ext cx="5486400" cy="14630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600" b="1" dirty="0">
                <a:solidFill>
                  <a:srgbClr val="2E8F68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3749040" y="1874520"/>
            <a:ext cx="7680960" cy="14630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4000" b="1" dirty="0">
                <a:solidFill>
                  <a:srgbClr val="FFFFFF"/>
                </a:solidFill>
                <a:latin typeface="Microsoft YaHei"/>
                <a:ea typeface="Microsoft YaHei"/>
              </a:rPr>
              <a:t>定时器怎么工作</a:t>
            </a:r>
          </a:p>
          <a:p>
            <a:pPr algn="l" marL="0" indent="0">
              <a:lnSpc>
                <a:spcPct val="130000"/>
              </a:lnSpc>
              <a:spcBef>
                <a:spcPts val="800"/>
              </a:spcBef>
            </a:pPr>
            <a:r>
              <a:rPr lang="zh-CN" altLang="en-US" sz="1600" dirty="0">
                <a:solidFill>
                  <a:srgbClr val="BEE6D2"/>
                </a:solidFill>
                <a:latin typeface="Microsoft YaHei"/>
                <a:ea typeface="Microsoft YaHei"/>
              </a:rPr>
              <a:t>时钟 → 预分频 → 计数 → 重装 → 触发中断</a:t>
            </a:r>
          </a:p>
        </p:txBody>
      </p:sp>
      <p:sp>
        <p:nvSpPr>
          <p:cNvPr id="6" name="Text6"/>
          <p:cNvSpPr txBox="1"/>
          <p:nvPr/>
        </p:nvSpPr>
        <p:spPr>
          <a:xfrm>
            <a:off x="822960" y="3429000"/>
            <a:ext cx="10515600" cy="109728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35000"/>
              </a:lnSpc>
            </a:pPr>
            <a:r>
              <a:rPr lang="zh-CN" altLang="en-US" sz="1400" b="1" dirty="0">
                <a:solidFill>
                  <a:srgbClr val="D98324"/>
                </a:solidFill>
                <a:latin typeface="Microsoft YaHei"/>
                <a:ea typeface="Microsoft YaHei"/>
              </a:rPr>
              <a:t>一句话理解：</a:t>
            </a:r>
            <a:r>
              <a:rPr lang="zh-CN" altLang="en-US" sz="1400" dirty="0">
                <a:solidFill>
                  <a:srgbClr val="E6F4EC"/>
                </a:solidFill>
                <a:latin typeface="Microsoft YaHei"/>
                <a:ea typeface="Microsoft YaHei"/>
              </a:rPr>
              <a:t>硬件在后台不停地数数，数到约定的数就通知 CPU 一次。</a:t>
            </a:r>
          </a:p>
          <a:p>
            <a:pPr algn="l" marL="0" indent="0">
              <a:lnSpc>
                <a:spcPct val="135000"/>
              </a:lnSpc>
              <a:spcBef>
                <a:spcPts val="600"/>
              </a:spcBef>
            </a:pPr>
            <a:r>
              <a:rPr lang="zh-CN" altLang="en-US" sz="1300" dirty="0">
                <a:solidFill>
                  <a:srgbClr val="9FD8BE"/>
                </a:solidFill>
                <a:latin typeface="Microsoft YaHei"/>
                <a:ea typeface="Microsoft YaHei"/>
              </a:rPr>
              <a:t>我们要做的，只是把“数到多少”和“数到了做什么”告诉它。</a:t>
            </a:r>
          </a:p>
        </p:txBody>
      </p:sp>
      <p:sp>
        <p:nvSpPr>
          <p:cNvPr id="7" name="Shape7"/>
          <p:cNvSpPr/>
          <p:nvPr/>
        </p:nvSpPr>
        <p:spPr>
          <a:xfrm>
            <a:off x="822960" y="484632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822960" y="5138928"/>
            <a:ext cx="237744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时钟</a:t>
            </a:r>
          </a:p>
        </p:txBody>
      </p:sp>
      <p:sp>
        <p:nvSpPr>
          <p:cNvPr id="9" name="Shape9"/>
          <p:cNvSpPr/>
          <p:nvPr/>
        </p:nvSpPr>
        <p:spPr>
          <a:xfrm>
            <a:off x="1207008" y="484632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10"/>
          <p:cNvSpPr txBox="1"/>
          <p:nvPr/>
        </p:nvSpPr>
        <p:spPr>
          <a:xfrm>
            <a:off x="1207008" y="5138928"/>
            <a:ext cx="237744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分频</a:t>
            </a:r>
          </a:p>
        </p:txBody>
      </p:sp>
      <p:sp>
        <p:nvSpPr>
          <p:cNvPr id="11" name="Shape11"/>
          <p:cNvSpPr/>
          <p:nvPr/>
        </p:nvSpPr>
        <p:spPr>
          <a:xfrm>
            <a:off x="1591056" y="484632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1591056" y="5138928"/>
            <a:ext cx="237744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计数</a:t>
            </a:r>
          </a:p>
        </p:txBody>
      </p:sp>
      <p:sp>
        <p:nvSpPr>
          <p:cNvPr id="13" name="Shape13"/>
          <p:cNvSpPr/>
          <p:nvPr/>
        </p:nvSpPr>
        <p:spPr>
          <a:xfrm>
            <a:off x="1975104" y="4846320"/>
            <a:ext cx="237744" cy="237744"/>
          </a:xfrm>
          <a:prstGeom prst="roundRect">
            <a:avLst>
              <a:gd name="adj" fmla="val 25000"/>
            </a:avLst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14"/>
          <p:cNvSpPr txBox="1"/>
          <p:nvPr/>
        </p:nvSpPr>
        <p:spPr>
          <a:xfrm>
            <a:off x="1975104" y="5138928"/>
            <a:ext cx="237744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中断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9FD8BE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03 / 原理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定时器原理，一眼看懂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pic>
        <p:nvPicPr>
          <p:cNvPr id="6" name="Pictur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16" y="1783080"/>
            <a:ext cx="10249120" cy="3767328"/>
          </a:xfrm>
          <a:prstGeom prst="rect">
            <a:avLst/>
          </a:prstGeom>
          <a:ln w="9525">
            <a:solidFill>
              <a:srgbClr val="D8E2DC"/>
            </a:solidFill>
          </a:ln>
          <a:effectLst>
            <a:outerShdw blurRad="63500" dist="38100" dir="5400000" rotWithShape="0">
              <a:srgbClr val="9AA8A0">
                <a:alpha val="40000"/>
              </a:srgbClr>
            </a:outerShdw>
          </a:effectLst>
        </p:spPr>
      </p:pic>
      <p:sp>
        <p:nvSpPr>
          <p:cNvPr id="7" name="Text7"/>
          <p:cNvSpPr txBox="1"/>
          <p:nvPr/>
        </p:nvSpPr>
        <p:spPr>
          <a:xfrm>
            <a:off x="777240" y="5650992"/>
            <a:ext cx="10634472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72 MHz 先被 PSC 分频成 1 MHz（1 µs 一格），CNT 数到 ARR 就溢出，触发更新中断，最终调用我们的回调函数。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04 / 关键参数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三个数字，记住这一页就够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874520"/>
            <a:ext cx="3310128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777240" y="1874520"/>
            <a:ext cx="3310128" cy="146304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1005840" y="2331720"/>
            <a:ext cx="2852928" cy="10058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4200" b="1" dirty="0">
                <a:solidFill>
                  <a:srgbClr val="158F63"/>
                </a:solidFill>
                <a:latin typeface="Consolas"/>
                <a:ea typeface="Consolas"/>
              </a:rPr>
              <a:t>72 MHz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005840" y="3429000"/>
            <a:ext cx="2852928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定时器时钟源</a:t>
            </a:r>
          </a:p>
        </p:txBody>
      </p:sp>
      <p:sp>
        <p:nvSpPr>
          <p:cNvPr id="10" name="Shape10"/>
          <p:cNvSpPr/>
          <p:nvPr/>
        </p:nvSpPr>
        <p:spPr>
          <a:xfrm>
            <a:off x="2011680" y="3950208"/>
            <a:ext cx="841248" cy="45720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" name="Text11"/>
          <p:cNvSpPr txBox="1"/>
          <p:nvPr/>
        </p:nvSpPr>
        <p:spPr>
          <a:xfrm>
            <a:off x="1033272" y="4160520"/>
            <a:ext cx="2798064" cy="10058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ctr" marL="0" indent="0">
              <a:lnSpc>
                <a:spcPct val="13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STM32F103 的 TIM2 挂在 APB1，倍频后 72 MHz</a:t>
            </a:r>
          </a:p>
        </p:txBody>
      </p:sp>
      <p:sp>
        <p:nvSpPr>
          <p:cNvPr id="12" name="Shape12"/>
          <p:cNvSpPr/>
          <p:nvPr/>
        </p:nvSpPr>
        <p:spPr>
          <a:xfrm>
            <a:off x="4343400" y="1874520"/>
            <a:ext cx="3310128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13"/>
          <p:cNvSpPr/>
          <p:nvPr/>
        </p:nvSpPr>
        <p:spPr>
          <a:xfrm>
            <a:off x="4343400" y="1874520"/>
            <a:ext cx="3310128" cy="146304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14"/>
          <p:cNvSpPr txBox="1"/>
          <p:nvPr/>
        </p:nvSpPr>
        <p:spPr>
          <a:xfrm>
            <a:off x="4572000" y="2331720"/>
            <a:ext cx="2852928" cy="10058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4200" b="1" dirty="0">
                <a:solidFill>
                  <a:srgbClr val="1F5FA8"/>
                </a:solidFill>
                <a:latin typeface="Consolas"/>
                <a:ea typeface="Consolas"/>
              </a:rPr>
              <a:t>999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572000" y="3429000"/>
            <a:ext cx="2852928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ARR 自动重装值</a:t>
            </a:r>
          </a:p>
        </p:txBody>
      </p:sp>
      <p:sp>
        <p:nvSpPr>
          <p:cNvPr id="16" name="Shape16"/>
          <p:cNvSpPr/>
          <p:nvPr/>
        </p:nvSpPr>
        <p:spPr>
          <a:xfrm>
            <a:off x="5577840" y="3950208"/>
            <a:ext cx="841248" cy="4572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17"/>
          <p:cNvSpPr txBox="1"/>
          <p:nvPr/>
        </p:nvSpPr>
        <p:spPr>
          <a:xfrm>
            <a:off x="4599432" y="4160520"/>
            <a:ext cx="2798064" cy="10058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ctr" marL="0" indent="0">
              <a:lnSpc>
                <a:spcPct val="13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数到 999 溢出一次，即每 1000 个计数一次</a:t>
            </a:r>
          </a:p>
        </p:txBody>
      </p:sp>
      <p:sp>
        <p:nvSpPr>
          <p:cNvPr id="18" name="Shape18"/>
          <p:cNvSpPr/>
          <p:nvPr/>
        </p:nvSpPr>
        <p:spPr>
          <a:xfrm>
            <a:off x="7909560" y="1874520"/>
            <a:ext cx="3310128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19"/>
          <p:cNvSpPr/>
          <p:nvPr/>
        </p:nvSpPr>
        <p:spPr>
          <a:xfrm>
            <a:off x="7909560" y="1874520"/>
            <a:ext cx="3310128" cy="146304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20"/>
          <p:cNvSpPr txBox="1"/>
          <p:nvPr/>
        </p:nvSpPr>
        <p:spPr>
          <a:xfrm>
            <a:off x="8138160" y="2331720"/>
            <a:ext cx="2852928" cy="10058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4200" b="1" dirty="0">
                <a:solidFill>
                  <a:srgbClr val="D98324"/>
                </a:solidFill>
                <a:latin typeface="Consolas"/>
                <a:ea typeface="Consolas"/>
              </a:rPr>
              <a:t>1 ms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138160" y="3429000"/>
            <a:ext cx="2852928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最终得到的周期</a:t>
            </a:r>
          </a:p>
        </p:txBody>
      </p:sp>
      <p:sp>
        <p:nvSpPr>
          <p:cNvPr id="22" name="Shape22"/>
          <p:cNvSpPr/>
          <p:nvPr/>
        </p:nvSpPr>
        <p:spPr>
          <a:xfrm>
            <a:off x="9144000" y="3950208"/>
            <a:ext cx="841248" cy="457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23"/>
          <p:cNvSpPr txBox="1"/>
          <p:nvPr/>
        </p:nvSpPr>
        <p:spPr>
          <a:xfrm>
            <a:off x="8165592" y="4160520"/>
            <a:ext cx="2798064" cy="10058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ctr" marL="0" indent="0">
              <a:lnSpc>
                <a:spcPct val="13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1 µs × 1000 = 1 ms，这就是我们的“心跳”</a:t>
            </a:r>
          </a:p>
        </p:txBody>
      </p:sp>
      <p:sp>
        <p:nvSpPr>
          <p:cNvPr id="24" name="Shape24"/>
          <p:cNvSpPr/>
          <p:nvPr/>
        </p:nvSpPr>
        <p:spPr>
          <a:xfrm>
            <a:off x="777240" y="5669280"/>
            <a:ext cx="10634472" cy="475488"/>
          </a:xfrm>
          <a:prstGeom prst="roundRect">
            <a:avLst>
              <a:gd name="adj" fmla="val 20000"/>
            </a:avLst>
          </a:prstGeom>
          <a:solidFill>
            <a:srgbClr val="F4FA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25"/>
          <p:cNvSpPr txBox="1"/>
          <p:nvPr/>
        </p:nvSpPr>
        <p:spPr>
          <a:xfrm>
            <a:off x="960120" y="5705856"/>
            <a:ext cx="10241280" cy="40233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0B5D3B"/>
                </a:solidFill>
                <a:latin typeface="Microsoft YaHei"/>
                <a:ea typeface="Microsoft YaHei"/>
              </a:rPr>
              <a:t>公式：</a:t>
            </a:r>
            <a:r>
              <a:rPr lang="zh-CN" altLang="en-US" sz="1250" dirty="0">
                <a:solidFill>
                  <a:srgbClr val="2B3D34"/>
                </a:solidFill>
                <a:latin typeface="Consolas"/>
                <a:ea typeface="Consolas"/>
              </a:rPr>
              <a:t>定时时间 = (PSC + 1) × (ARR + 1) ÷ 时钟频率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05 / 参数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四个参数，一一对应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graphicFrame>
        <p:nvGraphicFramePr>
          <p:cNvPr id="6" name="Table6"/>
          <p:cNvGraphicFramePr/>
          <p:nvPr/>
        </p:nvGraphicFramePr>
        <p:xfrm>
          <a:off x="868680" y="1828800"/>
          <a:ext cx="10451592" cy="31455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6771"/>
                <a:gridCol w="2717414"/>
                <a:gridCol w="1463223"/>
                <a:gridCol w="4494185"/>
              </a:tblGrid>
              <a:tr h="512064"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参数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作用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本例取值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0B5D3B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50" b="1" dirty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怎么理解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0B5D3B"/>
                    </a:solidFill>
                  </a:tcPr>
                </a:tc>
              </a:tr>
              <a:tr h="658368"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时钟源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定时器的“心跳来源”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72 MHz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F103 的 TIM2 挂 APB1，倍频后 72 MHz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PSC 预分频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把时钟按比例变慢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71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分频系数 = PSC+1 = 72 → 1 MHz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</a:tr>
              <a:tr h="658368"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ARR 自动重装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数到多少就溢出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999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溢出周期 = (ARR+1) × 1 µs = 1 ms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更新中断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溢出时通知 CPU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使能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  <a:tc>
                  <a:txBody>
                    <a:bodyPr lIns="91440" rIns="68580" tIns="45720" bIns="45720" anchor="ctr"/>
                    <a:lstStyle/>
                    <a:p>
                      <a:pPr algn="l" marL="0" indent="0">
                        <a:lnSpc>
                          <a:spcPct val="95000"/>
                        </a:lnSpc>
                      </a:pPr>
                      <a:r>
                        <a:rPr lang="zh-CN" altLang="en-US" sz="1200" dirty="0">
                          <a:solidFill>
                            <a:srgbClr val="22332B"/>
                          </a:solidFill>
                          <a:latin typeface="Microsoft YaHei"/>
                          <a:ea typeface="Microsoft YaHei"/>
                        </a:rPr>
                        <a:t>NVIC 里勾选 TIM2 global interrupt</a:t>
                      </a:r>
                    </a:p>
                  </a:txBody>
                  <a:tcPr marL="91440" marR="68580" anchor="ctr">
                    <a:lnL w="9525" cap="flat">
                      <a:solidFill>
                        <a:srgbClr val="DCE7E1"/>
                      </a:solidFill>
                    </a:lnL>
                    <a:lnR w="9525" cap="flat">
                      <a:solidFill>
                        <a:srgbClr val="DCE7E1"/>
                      </a:solidFill>
                    </a:lnR>
                    <a:lnT w="9525" cap="flat">
                      <a:solidFill>
                        <a:srgbClr val="DCE7E1"/>
                      </a:solidFill>
                    </a:lnT>
                    <a:lnB w="9525" cap="flat">
                      <a:solidFill>
                        <a:srgbClr val="DCE7E1"/>
                      </a:solidFill>
                    </a:lnB>
                    <a:solidFill>
                      <a:srgbClr val="F2F8F5"/>
                    </a:solidFill>
                  </a:tcPr>
                </a:tc>
              </a:tr>
            </a:tbl>
          </a:graphicData>
        </a:graphic>
      </p:graphicFrame>
      <p:sp>
        <p:nvSpPr>
          <p:cNvPr id="7" name="Shape7"/>
          <p:cNvSpPr/>
          <p:nvPr/>
        </p:nvSpPr>
        <p:spPr>
          <a:xfrm>
            <a:off x="868680" y="5138928"/>
            <a:ext cx="10451592" cy="658368"/>
          </a:xfrm>
          <a:prstGeom prst="roundRect">
            <a:avLst>
              <a:gd name="adj" fmla="val 14000"/>
            </a:avLst>
          </a:prstGeom>
          <a:solidFill>
            <a:srgbClr val="FDF3E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1097280" y="5175504"/>
            <a:ext cx="10058400" cy="58521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20000"/>
              </a:lnSpc>
            </a:pPr>
            <a:r>
              <a:rPr lang="zh-CN" altLang="en-US" sz="1300" b="1" dirty="0">
                <a:solidFill>
                  <a:srgbClr val="D98324"/>
                </a:solidFill>
                <a:latin typeface="Microsoft YaHei"/>
                <a:ea typeface="Microsoft YaHei"/>
              </a:rPr>
              <a:t>口诀：</a:t>
            </a:r>
            <a:r>
              <a:rPr lang="zh-CN" altLang="en-US" sz="1250" dirty="0">
                <a:solidFill>
                  <a:srgbClr val="2B3D34"/>
                </a:solidFill>
                <a:latin typeface="Microsoft YaHei"/>
                <a:ea typeface="Microsoft YaHei"/>
              </a:rPr>
              <a:t>定时时间 = (PSC + 1) × (ARR + 1) ÷ 时钟频率；改 PSC 调“每格多长”，改 ARR 调“数多少格”。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06 / 配置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CubeMX 里四步搞定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2103120"/>
            <a:ext cx="248716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 cap="flat">
            <a:solidFill>
              <a:srgbClr val="158F63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996696" y="2304288"/>
            <a:ext cx="566928" cy="566928"/>
          </a:xfrm>
          <a:prstGeom prst="ellipse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996696" y="2340864"/>
            <a:ext cx="566928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Consolas"/>
                <a:ea typeface="Consolas"/>
              </a:rPr>
              <a:t>1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96696" y="2999232"/>
            <a:ext cx="2048256" cy="40233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50" b="1" dirty="0">
                <a:solidFill>
                  <a:srgbClr val="16241D"/>
                </a:solidFill>
                <a:latin typeface="Microsoft YaHei"/>
                <a:ea typeface="Microsoft YaHei"/>
              </a:rPr>
              <a:t>选定时器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960120" y="3456432"/>
            <a:ext cx="2121408" cy="9144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25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Timers → TIM2
Clock Source 选 Internal Clock</a:t>
            </a:r>
          </a:p>
        </p:txBody>
      </p:sp>
      <p:sp>
        <p:nvSpPr>
          <p:cNvPr id="11" name="Shape11"/>
          <p:cNvSpPr/>
          <p:nvPr/>
        </p:nvSpPr>
        <p:spPr>
          <a:xfrm>
            <a:off x="3328416" y="3035808"/>
            <a:ext cx="402336" cy="274320"/>
          </a:xfrm>
          <a:prstGeom prst="rightArrow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12"/>
          <p:cNvSpPr/>
          <p:nvPr/>
        </p:nvSpPr>
        <p:spPr>
          <a:xfrm>
            <a:off x="3703320" y="2103120"/>
            <a:ext cx="248716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 cap="flat">
            <a:solidFill>
              <a:srgbClr val="1F5FA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13"/>
          <p:cNvSpPr/>
          <p:nvPr/>
        </p:nvSpPr>
        <p:spPr>
          <a:xfrm>
            <a:off x="3922776" y="2304288"/>
            <a:ext cx="566928" cy="566928"/>
          </a:xfrm>
          <a:prstGeom prst="ellipse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14"/>
          <p:cNvSpPr txBox="1"/>
          <p:nvPr/>
        </p:nvSpPr>
        <p:spPr>
          <a:xfrm>
            <a:off x="3922776" y="2340864"/>
            <a:ext cx="566928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Consolas"/>
                <a:ea typeface="Consolas"/>
              </a:rPr>
              <a:t>2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3922776" y="2999232"/>
            <a:ext cx="2048256" cy="40233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50" b="1" dirty="0">
                <a:solidFill>
                  <a:srgbClr val="16241D"/>
                </a:solidFill>
                <a:latin typeface="Microsoft YaHei"/>
                <a:ea typeface="Microsoft YaHei"/>
              </a:rPr>
              <a:t>填参数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3886200" y="3456432"/>
            <a:ext cx="2121408" cy="9144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25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Prescaler = 71
Counter Period = 999</a:t>
            </a:r>
          </a:p>
        </p:txBody>
      </p:sp>
      <p:sp>
        <p:nvSpPr>
          <p:cNvPr id="17" name="Shape17"/>
          <p:cNvSpPr/>
          <p:nvPr/>
        </p:nvSpPr>
        <p:spPr>
          <a:xfrm>
            <a:off x="6254496" y="3035808"/>
            <a:ext cx="402336" cy="274320"/>
          </a:xfrm>
          <a:prstGeom prst="rightArrow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Shape18"/>
          <p:cNvSpPr/>
          <p:nvPr/>
        </p:nvSpPr>
        <p:spPr>
          <a:xfrm>
            <a:off x="6629400" y="2103120"/>
            <a:ext cx="248716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 cap="flat">
            <a:solidFill>
              <a:srgbClr val="6D3FA8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19"/>
          <p:cNvSpPr/>
          <p:nvPr/>
        </p:nvSpPr>
        <p:spPr>
          <a:xfrm>
            <a:off x="6848856" y="2304288"/>
            <a:ext cx="566928" cy="566928"/>
          </a:xfrm>
          <a:prstGeom prst="ellipse">
            <a:avLst/>
          </a:prstGeom>
          <a:solidFill>
            <a:srgbClr val="6D3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20"/>
          <p:cNvSpPr txBox="1"/>
          <p:nvPr/>
        </p:nvSpPr>
        <p:spPr>
          <a:xfrm>
            <a:off x="6848856" y="2340864"/>
            <a:ext cx="566928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Consolas"/>
                <a:ea typeface="Consolas"/>
              </a:rPr>
              <a:t>3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6848856" y="2999232"/>
            <a:ext cx="2048256" cy="40233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50" b="1" dirty="0">
                <a:solidFill>
                  <a:srgbClr val="16241D"/>
                </a:solidFill>
                <a:latin typeface="Microsoft YaHei"/>
                <a:ea typeface="Microsoft YaHei"/>
              </a:rPr>
              <a:t>开中断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6812280" y="3456432"/>
            <a:ext cx="2121408" cy="9144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25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NVIC 页勾选
TIM2 global interrupt</a:t>
            </a:r>
          </a:p>
        </p:txBody>
      </p:sp>
      <p:sp>
        <p:nvSpPr>
          <p:cNvPr id="23" name="Shape23"/>
          <p:cNvSpPr/>
          <p:nvPr/>
        </p:nvSpPr>
        <p:spPr>
          <a:xfrm>
            <a:off x="9180576" y="3035808"/>
            <a:ext cx="402336" cy="274320"/>
          </a:xfrm>
          <a:prstGeom prst="rightArrow">
            <a:avLst/>
          </a:prstGeom>
          <a:solidFill>
            <a:srgbClr val="6D3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24"/>
          <p:cNvSpPr/>
          <p:nvPr/>
        </p:nvSpPr>
        <p:spPr>
          <a:xfrm>
            <a:off x="9555480" y="2103120"/>
            <a:ext cx="248716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0320" cap="flat">
            <a:solidFill>
              <a:srgbClr val="D98324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5" name="Shape25"/>
          <p:cNvSpPr/>
          <p:nvPr/>
        </p:nvSpPr>
        <p:spPr>
          <a:xfrm>
            <a:off x="9774936" y="2304288"/>
            <a:ext cx="566928" cy="566928"/>
          </a:xfrm>
          <a:prstGeom prst="ellipse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6" name="Text26"/>
          <p:cNvSpPr txBox="1"/>
          <p:nvPr/>
        </p:nvSpPr>
        <p:spPr>
          <a:xfrm>
            <a:off x="9774936" y="2340864"/>
            <a:ext cx="566928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Consolas"/>
                <a:ea typeface="Consolas"/>
              </a:rPr>
              <a:t>4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9774936" y="2999232"/>
            <a:ext cx="2048256" cy="40233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50" b="1" dirty="0">
                <a:solidFill>
                  <a:srgbClr val="16241D"/>
                </a:solidFill>
                <a:latin typeface="Microsoft YaHei"/>
                <a:ea typeface="Microsoft YaHei"/>
              </a:rPr>
              <a:t>生成代码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9738360" y="3456432"/>
            <a:ext cx="2121408" cy="9144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25000"/>
              </a:lnSpc>
            </a:pPr>
            <a:r>
              <a:rPr lang="zh-CN" altLang="en-US" sz="1050" dirty="0">
                <a:solidFill>
                  <a:srgbClr val="63766C"/>
                </a:solidFill>
                <a:latin typeface="Microsoft YaHei"/>
                <a:ea typeface="Microsoft YaHei"/>
              </a:rPr>
              <a:t>Generate Code
再补两行启动代码</a:t>
            </a:r>
          </a:p>
        </p:txBody>
      </p:sp>
      <p:sp>
        <p:nvSpPr>
          <p:cNvPr id="29" name="Shape29"/>
          <p:cNvSpPr/>
          <p:nvPr/>
        </p:nvSpPr>
        <p:spPr>
          <a:xfrm>
            <a:off x="777240" y="4773168"/>
            <a:ext cx="10634472" cy="960120"/>
          </a:xfrm>
          <a:prstGeom prst="roundRect">
            <a:avLst>
              <a:gd name="adj" fmla="val 10000"/>
            </a:avLst>
          </a:prstGeom>
          <a:solidFill>
            <a:srgbClr val="F1F5F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ext30"/>
          <p:cNvSpPr txBox="1"/>
          <p:nvPr/>
        </p:nvSpPr>
        <p:spPr>
          <a:xfrm>
            <a:off x="1051560" y="4864608"/>
            <a:ext cx="10058400" cy="77724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25000"/>
              </a:lnSpc>
            </a:pPr>
            <a:r>
              <a:rPr lang="zh-CN" altLang="en-US" sz="1250" b="1" dirty="0">
                <a:solidFill>
                  <a:srgbClr val="16241D"/>
                </a:solidFill>
                <a:latin typeface="Microsoft YaHei"/>
                <a:ea typeface="Microsoft YaHei"/>
              </a:rPr>
              <a:t>生成后你会得到：</a:t>
            </a:r>
            <a:r>
              <a:rPr lang="zh-CN" altLang="en-US" sz="1250" dirty="0">
                <a:solidFill>
                  <a:srgbClr val="2B3D34"/>
                </a:solidFill>
                <a:latin typeface="Microsoft YaHei"/>
                <a:ea typeface="Microsoft YaHei"/>
              </a:rPr>
              <a:t>MX_TIM2_Init() 已经按你的参数配好，</a:t>
            </a:r>
          </a:p>
          <a:p>
            <a:pPr algn="l" marL="0" indent="0">
              <a:lnSpc>
                <a:spcPct val="125000"/>
              </a:lnSpc>
            </a:pPr>
            <a:r>
              <a:rPr lang="zh-CN" altLang="en-US" sz="1250" dirty="0">
                <a:solidFill>
                  <a:srgbClr val="2B3D34"/>
                </a:solidFill>
                <a:latin typeface="Microsoft YaHei"/>
                <a:ea typeface="Microsoft YaHei"/>
              </a:rPr>
              <a:t>你只需要在 USER CODE 区调用 HAL_TIM_Base_Start_IT(&amp;htim2)，中断就活了。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32" name="Text32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07 / 代码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代码其实只有两行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874520"/>
            <a:ext cx="3246120" cy="141732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143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777240" y="1965960"/>
            <a:ext cx="50292" cy="1234440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960120" y="1929384"/>
            <a:ext cx="2935224" cy="130759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① 启动定时器</a:t>
            </a:r>
          </a:p>
          <a:p>
            <a:pPr algn="l" marL="0" indent="0">
              <a:lnSpc>
                <a:spcPct val="118000"/>
              </a:lnSpc>
              <a:spcBef>
                <a:spcPts val="400"/>
              </a:spcBef>
            </a:pPr>
            <a:r>
              <a:rPr lang="zh-CN" altLang="en-US" sz="1150" dirty="0">
                <a:solidFill>
                  <a:srgbClr val="2B3D34"/>
                </a:solidFill>
                <a:latin typeface="Microsoft YaHei"/>
                <a:ea typeface="Microsoft YaHei"/>
              </a:rPr>
              <a:t>初始化完成后调用一次：
HAL_TIM_Base_Start_IT(&amp;htim2);</a:t>
            </a:r>
          </a:p>
        </p:txBody>
      </p:sp>
      <p:sp>
        <p:nvSpPr>
          <p:cNvPr id="9" name="Shape9"/>
          <p:cNvSpPr/>
          <p:nvPr/>
        </p:nvSpPr>
        <p:spPr>
          <a:xfrm>
            <a:off x="777240" y="3520440"/>
            <a:ext cx="3246120" cy="2057400"/>
          </a:xfrm>
          <a:prstGeom prst="roundRect">
            <a:avLst>
              <a:gd name="adj" fmla="val 6000"/>
            </a:avLst>
          </a:prstGeom>
          <a:solidFill>
            <a:srgbClr val="F4FAF7"/>
          </a:solidFill>
          <a:ln w="1143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0" name="Shape10"/>
          <p:cNvSpPr/>
          <p:nvPr/>
        </p:nvSpPr>
        <p:spPr>
          <a:xfrm>
            <a:off x="777240" y="3611880"/>
            <a:ext cx="50292" cy="18745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1" name="Text11"/>
          <p:cNvSpPr txBox="1"/>
          <p:nvPr/>
        </p:nvSpPr>
        <p:spPr>
          <a:xfrm>
            <a:off x="960120" y="3575304"/>
            <a:ext cx="2935224" cy="194767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" b="1" dirty="0">
                <a:solidFill>
                  <a:srgbClr val="16241D"/>
                </a:solidFill>
                <a:latin typeface="Microsoft YaHei"/>
                <a:ea typeface="Microsoft YaHei"/>
              </a:rPr>
              <a:t>② 中断回调</a:t>
            </a:r>
          </a:p>
          <a:p>
            <a:pPr algn="l" marL="0" indent="0">
              <a:lnSpc>
                <a:spcPct val="118000"/>
              </a:lnSpc>
              <a:spcBef>
                <a:spcPts val="400"/>
              </a:spcBef>
            </a:pPr>
            <a:r>
              <a:rPr lang="zh-CN" altLang="en-US" sz="1150" dirty="0">
                <a:solidFill>
                  <a:srgbClr val="2B3D34"/>
                </a:solidFill>
                <a:latin typeface="Microsoft YaHei"/>
                <a:ea typeface="Microsoft YaHei"/>
              </a:rPr>
              <a:t>每 1 ms 自动被调用一次：
volatile uint32_t tick = 0;
回调里让 tick++ 即可，
其余交给硬件。</a:t>
            </a:r>
          </a:p>
        </p:txBody>
      </p:sp>
      <p:pic>
        <p:nvPicPr>
          <p:cNvPr id="12" name="Picture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160" y="1874520"/>
            <a:ext cx="5981639" cy="3886200"/>
          </a:xfrm>
          <a:prstGeom prst="rect">
            <a:avLst/>
          </a:prstGeom>
          <a:ln w="9525">
            <a:solidFill>
              <a:srgbClr val="158F63"/>
            </a:solidFill>
          </a:ln>
          <a:effectLst>
            <a:outerShdw blurRad="63500" dist="38100" dir="5400000" rotWithShape="0">
              <a:srgbClr val="9AA8A0">
                <a:alpha val="40000"/>
              </a:srgbClr>
            </a:outerShdw>
          </a:effectLst>
        </p:spPr>
      </p:pic>
      <p:sp>
        <p:nvSpPr>
          <p:cNvPr id="13" name="Text13"/>
          <p:cNvSpPr txBox="1"/>
          <p:nvPr/>
        </p:nvSpPr>
        <p:spPr>
          <a:xfrm>
            <a:off x="4224528" y="5779008"/>
            <a:ext cx="7232904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这就是“心跳”的全部代码——真正干活的只有 tick++ 一句。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08 / 代码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主循环变得“非阻塞”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Text6"/>
          <p:cNvSpPr txBox="1"/>
          <p:nvPr/>
        </p:nvSpPr>
        <p:spPr>
          <a:xfrm>
            <a:off x="868680" y="1691640"/>
            <a:ext cx="5669280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B93A2B"/>
                </a:solidFill>
                <a:latin typeface="Microsoft YaHei"/>
                <a:ea typeface="Microsoft YaHei"/>
              </a:rPr>
              <a:t>以前：delay 把时间占满</a:t>
            </a:r>
          </a:p>
        </p:txBody>
      </p:sp>
      <p:sp>
        <p:nvSpPr>
          <p:cNvPr id="7" name="Shape7"/>
          <p:cNvSpPr/>
          <p:nvPr/>
        </p:nvSpPr>
        <p:spPr>
          <a:xfrm>
            <a:off x="868680" y="2194560"/>
            <a:ext cx="54864" cy="365760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1024128" y="2194560"/>
            <a:ext cx="548640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2B3D34"/>
                </a:solidFill>
                <a:latin typeface="Consolas"/>
                <a:ea typeface="Consolas"/>
              </a:rPr>
              <a:t>while (1) {</a:t>
            </a:r>
          </a:p>
        </p:txBody>
      </p:sp>
      <p:sp>
        <p:nvSpPr>
          <p:cNvPr id="9" name="Shape9"/>
          <p:cNvSpPr/>
          <p:nvPr/>
        </p:nvSpPr>
        <p:spPr>
          <a:xfrm>
            <a:off x="868680" y="2651760"/>
            <a:ext cx="54864" cy="365760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10"/>
          <p:cNvSpPr txBox="1"/>
          <p:nvPr/>
        </p:nvSpPr>
        <p:spPr>
          <a:xfrm>
            <a:off x="1024128" y="2651760"/>
            <a:ext cx="548640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2B3D34"/>
                </a:solidFill>
                <a:latin typeface="Consolas"/>
                <a:ea typeface="Consolas"/>
              </a:rPr>
              <a:t>    HAL_GPIO_TogglePin(LED);</a:t>
            </a:r>
          </a:p>
        </p:txBody>
      </p:sp>
      <p:sp>
        <p:nvSpPr>
          <p:cNvPr id="11" name="Shape11"/>
          <p:cNvSpPr/>
          <p:nvPr/>
        </p:nvSpPr>
        <p:spPr>
          <a:xfrm>
            <a:off x="868680" y="3108960"/>
            <a:ext cx="54864" cy="365760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1024128" y="3108960"/>
            <a:ext cx="548640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B93A2B"/>
                </a:solidFill>
                <a:latin typeface="Consolas"/>
                <a:ea typeface="Consolas"/>
              </a:rPr>
              <a:t>    HAL_Delay(500);   // ← CPU 在这里干等 500 ms</a:t>
            </a:r>
          </a:p>
        </p:txBody>
      </p:sp>
      <p:sp>
        <p:nvSpPr>
          <p:cNvPr id="13" name="Shape13"/>
          <p:cNvSpPr/>
          <p:nvPr/>
        </p:nvSpPr>
        <p:spPr>
          <a:xfrm>
            <a:off x="868680" y="3566160"/>
            <a:ext cx="54864" cy="365760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14"/>
          <p:cNvSpPr txBox="1"/>
          <p:nvPr/>
        </p:nvSpPr>
        <p:spPr>
          <a:xfrm>
            <a:off x="1024128" y="3566160"/>
            <a:ext cx="5486400" cy="3657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100" dirty="0">
                <a:solidFill>
                  <a:srgbClr val="2B3D34"/>
                </a:solidFill>
                <a:latin typeface="Consolas"/>
                <a:ea typeface="Consolas"/>
              </a:rPr>
              <a:t>    // 想读传感器？只能排在这后面</a:t>
            </a:r>
          </a:p>
        </p:txBody>
      </p:sp>
      <p:sp>
        <p:nvSpPr>
          <p:cNvPr id="15" name="Shape15"/>
          <p:cNvSpPr/>
          <p:nvPr/>
        </p:nvSpPr>
        <p:spPr>
          <a:xfrm>
            <a:off x="868680" y="4160520"/>
            <a:ext cx="5486400" cy="603504"/>
          </a:xfrm>
          <a:prstGeom prst="roundRect">
            <a:avLst>
              <a:gd name="adj" fmla="val 14000"/>
            </a:avLst>
          </a:prstGeom>
          <a:solidFill>
            <a:srgbClr val="FBEEEC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16"/>
          <p:cNvSpPr txBox="1"/>
          <p:nvPr/>
        </p:nvSpPr>
        <p:spPr>
          <a:xfrm>
            <a:off x="1097280" y="4197096"/>
            <a:ext cx="5120640" cy="53035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00" b="1" dirty="0">
                <a:solidFill>
                  <a:srgbClr val="B93A2B"/>
                </a:solidFill>
                <a:latin typeface="Microsoft YaHei"/>
                <a:ea typeface="Microsoft YaHei"/>
              </a:rPr>
              <a:t>问题：这段时间里 CPU 什么也做不了。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492240" y="1691640"/>
            <a:ext cx="5669280" cy="45720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0B5D3B"/>
                </a:solidFill>
                <a:latin typeface="Microsoft YaHei"/>
                <a:ea typeface="Microsoft YaHei"/>
              </a:rPr>
              <a:t>现在：用 tick 计时，主循环不阻塞</a:t>
            </a:r>
          </a:p>
        </p:txBody>
      </p:sp>
      <p:sp>
        <p:nvSpPr>
          <p:cNvPr id="18" name="Shape18"/>
          <p:cNvSpPr/>
          <p:nvPr/>
        </p:nvSpPr>
        <p:spPr>
          <a:xfrm>
            <a:off x="6492240" y="2148840"/>
            <a:ext cx="54864" cy="329184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9" name="Text19"/>
          <p:cNvSpPr txBox="1"/>
          <p:nvPr/>
        </p:nvSpPr>
        <p:spPr>
          <a:xfrm>
            <a:off x="6647688" y="2148840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2B3D34"/>
                </a:solidFill>
                <a:latin typeface="Consolas"/>
                <a:ea typeface="Consolas"/>
              </a:rPr>
              <a:t>while (1) {</a:t>
            </a:r>
          </a:p>
        </p:txBody>
      </p:sp>
      <p:sp>
        <p:nvSpPr>
          <p:cNvPr id="20" name="Shape20"/>
          <p:cNvSpPr/>
          <p:nvPr/>
        </p:nvSpPr>
        <p:spPr>
          <a:xfrm>
            <a:off x="6492240" y="2551176"/>
            <a:ext cx="54864" cy="329184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21"/>
          <p:cNvSpPr txBox="1"/>
          <p:nvPr/>
        </p:nvSpPr>
        <p:spPr>
          <a:xfrm>
            <a:off x="6647688" y="2551176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158F63"/>
                </a:solidFill>
                <a:latin typeface="Consolas"/>
                <a:ea typeface="Consolas"/>
              </a:rPr>
              <a:t>    if (tick - last &gt;= 500) {</a:t>
            </a:r>
          </a:p>
        </p:txBody>
      </p:sp>
      <p:sp>
        <p:nvSpPr>
          <p:cNvPr id="22" name="Shape22"/>
          <p:cNvSpPr/>
          <p:nvPr/>
        </p:nvSpPr>
        <p:spPr>
          <a:xfrm>
            <a:off x="6492240" y="2953512"/>
            <a:ext cx="54864" cy="329184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3" name="Text23"/>
          <p:cNvSpPr txBox="1"/>
          <p:nvPr/>
        </p:nvSpPr>
        <p:spPr>
          <a:xfrm>
            <a:off x="6647688" y="2953512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2B3D34"/>
                </a:solidFill>
                <a:latin typeface="Consolas"/>
                <a:ea typeface="Consolas"/>
              </a:rPr>
              <a:t>        last = tick;</a:t>
            </a:r>
          </a:p>
        </p:txBody>
      </p:sp>
      <p:sp>
        <p:nvSpPr>
          <p:cNvPr id="24" name="Shape24"/>
          <p:cNvSpPr/>
          <p:nvPr/>
        </p:nvSpPr>
        <p:spPr>
          <a:xfrm>
            <a:off x="6492240" y="3355848"/>
            <a:ext cx="54864" cy="329184"/>
          </a:xfrm>
          <a:prstGeom prst="rect">
            <a:avLst/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25"/>
          <p:cNvSpPr txBox="1"/>
          <p:nvPr/>
        </p:nvSpPr>
        <p:spPr>
          <a:xfrm>
            <a:off x="6647688" y="3355848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158F63"/>
                </a:solidFill>
                <a:latin typeface="Consolas"/>
                <a:ea typeface="Consolas"/>
              </a:rPr>
              <a:t>        HAL_GPIO_TogglePin(LED);   // 到点才动手</a:t>
            </a:r>
          </a:p>
        </p:txBody>
      </p:sp>
      <p:sp>
        <p:nvSpPr>
          <p:cNvPr id="26" name="Shape26"/>
          <p:cNvSpPr/>
          <p:nvPr/>
        </p:nvSpPr>
        <p:spPr>
          <a:xfrm>
            <a:off x="6492240" y="3758184"/>
            <a:ext cx="54864" cy="329184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7" name="Text27"/>
          <p:cNvSpPr txBox="1"/>
          <p:nvPr/>
        </p:nvSpPr>
        <p:spPr>
          <a:xfrm>
            <a:off x="6647688" y="3758184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2B3D34"/>
                </a:solidFill>
                <a:latin typeface="Consolas"/>
                <a:ea typeface="Consolas"/>
              </a:rPr>
              <a:t>    }</a:t>
            </a:r>
          </a:p>
        </p:txBody>
      </p:sp>
      <p:sp>
        <p:nvSpPr>
          <p:cNvPr id="28" name="Shape28"/>
          <p:cNvSpPr/>
          <p:nvPr/>
        </p:nvSpPr>
        <p:spPr>
          <a:xfrm>
            <a:off x="6492240" y="4160520"/>
            <a:ext cx="54864" cy="329184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9" name="Text29"/>
          <p:cNvSpPr txBox="1"/>
          <p:nvPr/>
        </p:nvSpPr>
        <p:spPr>
          <a:xfrm>
            <a:off x="6647688" y="4160520"/>
            <a:ext cx="5532120" cy="329184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050" dirty="0">
                <a:solidFill>
                  <a:srgbClr val="2B3D34"/>
                </a:solidFill>
                <a:latin typeface="Consolas"/>
                <a:ea typeface="Consolas"/>
              </a:rPr>
              <a:t>    // 还能顺便读传感器、跑巡线</a:t>
            </a:r>
          </a:p>
        </p:txBody>
      </p:sp>
      <p:sp>
        <p:nvSpPr>
          <p:cNvPr id="30" name="Shape30"/>
          <p:cNvSpPr/>
          <p:nvPr/>
        </p:nvSpPr>
        <p:spPr>
          <a:xfrm>
            <a:off x="6492240" y="4709160"/>
            <a:ext cx="5532120" cy="603504"/>
          </a:xfrm>
          <a:prstGeom prst="roundRect">
            <a:avLst>
              <a:gd name="adj" fmla="val 14000"/>
            </a:avLst>
          </a:prstGeom>
          <a:solidFill>
            <a:srgbClr val="F4FA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" name="Text31"/>
          <p:cNvSpPr txBox="1"/>
          <p:nvPr/>
        </p:nvSpPr>
        <p:spPr>
          <a:xfrm>
            <a:off x="6720840" y="4745736"/>
            <a:ext cx="5120640" cy="53035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0B5D3B"/>
                </a:solidFill>
                <a:latin typeface="Microsoft YaHei"/>
                <a:ea typeface="Microsoft YaHei"/>
              </a:rPr>
              <a:t>同一块板子，同时做两件事。</a:t>
            </a:r>
          </a:p>
        </p:txBody>
      </p:sp>
      <p:sp>
        <p:nvSpPr>
          <p:cNvPr id="32" name="Shape32"/>
          <p:cNvSpPr/>
          <p:nvPr/>
        </p:nvSpPr>
        <p:spPr>
          <a:xfrm>
            <a:off x="868680" y="5074920"/>
            <a:ext cx="5486400" cy="566928"/>
          </a:xfrm>
          <a:prstGeom prst="roundRect">
            <a:avLst>
              <a:gd name="adj" fmla="val 14000"/>
            </a:avLst>
          </a:prstGeom>
          <a:solidFill>
            <a:srgbClr val="F1F5F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ext33"/>
          <p:cNvSpPr txBox="1"/>
          <p:nvPr/>
        </p:nvSpPr>
        <p:spPr>
          <a:xfrm>
            <a:off x="1051560" y="5111496"/>
            <a:ext cx="5120640" cy="49377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00" dirty="0">
                <a:solidFill>
                  <a:srgbClr val="2B3D34"/>
                </a:solidFill>
                <a:latin typeface="Microsoft YaHei"/>
                <a:ea typeface="Microsoft YaHei"/>
              </a:rPr>
              <a:t>判据：从“等时间”变成“看时间”。</a:t>
            </a:r>
          </a:p>
        </p:txBody>
      </p:sp>
      <p:sp>
        <p:nvSpPr>
          <p:cNvPr id="34" name="Text34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35" name="Text35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09 / 避坑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五个常见坑（几乎人人踩过）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719072"/>
            <a:ext cx="10634472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777240" y="1719072"/>
            <a:ext cx="82296" cy="822960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1005840" y="1773936"/>
            <a:ext cx="457200" cy="71323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B93A2B"/>
                </a:solidFill>
                <a:latin typeface="Microsoft YaHei"/>
                <a:ea typeface="Microsoft YaHei"/>
              </a:rPr>
              <a:t>✕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554480" y="1764792"/>
            <a:ext cx="9692640" cy="7315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忘了 HAL_TIM_Base_Start_IT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只初始化不启动，中断永远不会来。</a:t>
            </a:r>
          </a:p>
        </p:txBody>
      </p:sp>
      <p:sp>
        <p:nvSpPr>
          <p:cNvPr id="10" name="Shape10"/>
          <p:cNvSpPr/>
          <p:nvPr/>
        </p:nvSpPr>
        <p:spPr>
          <a:xfrm>
            <a:off x="777240" y="2633472"/>
            <a:ext cx="10634472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Shape11"/>
          <p:cNvSpPr/>
          <p:nvPr/>
        </p:nvSpPr>
        <p:spPr>
          <a:xfrm>
            <a:off x="777240" y="2633472"/>
            <a:ext cx="82296" cy="822960"/>
          </a:xfrm>
          <a:prstGeom prst="rect">
            <a:avLst/>
          </a:prstGeom>
          <a:solidFill>
            <a:srgbClr val="B93A2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1005840" y="2688336"/>
            <a:ext cx="457200" cy="71323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B93A2B"/>
                </a:solidFill>
                <a:latin typeface="Microsoft YaHei"/>
                <a:ea typeface="Microsoft YaHei"/>
              </a:rPr>
              <a:t>✕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1554480" y="2679192"/>
            <a:ext cx="9692640" cy="7315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回调函数名写错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必须是 HAL_TIM_PeriodElapsedCallback，写错会静默失效。</a:t>
            </a:r>
          </a:p>
        </p:txBody>
      </p:sp>
      <p:sp>
        <p:nvSpPr>
          <p:cNvPr id="14" name="Shape14"/>
          <p:cNvSpPr/>
          <p:nvPr/>
        </p:nvSpPr>
        <p:spPr>
          <a:xfrm>
            <a:off x="777240" y="3547872"/>
            <a:ext cx="10634472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15"/>
          <p:cNvSpPr/>
          <p:nvPr/>
        </p:nvSpPr>
        <p:spPr>
          <a:xfrm>
            <a:off x="777240" y="3547872"/>
            <a:ext cx="82296" cy="82296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16"/>
          <p:cNvSpPr txBox="1"/>
          <p:nvPr/>
        </p:nvSpPr>
        <p:spPr>
          <a:xfrm>
            <a:off x="1005840" y="3602736"/>
            <a:ext cx="457200" cy="71323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D98324"/>
                </a:solidFill>
                <a:latin typeface="Microsoft YaHei"/>
                <a:ea typeface="Microsoft YaHei"/>
              </a:rPr>
              <a:t>✕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1554480" y="3593592"/>
            <a:ext cx="9692640" cy="7315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tick 没加 volatile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开了优化后编译器把它缓存进寄存器，主循环读到旧值。</a:t>
            </a:r>
          </a:p>
        </p:txBody>
      </p:sp>
      <p:sp>
        <p:nvSpPr>
          <p:cNvPr id="18" name="Shape18"/>
          <p:cNvSpPr/>
          <p:nvPr/>
        </p:nvSpPr>
        <p:spPr>
          <a:xfrm>
            <a:off x="777240" y="4462272"/>
            <a:ext cx="10634472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19"/>
          <p:cNvSpPr/>
          <p:nvPr/>
        </p:nvSpPr>
        <p:spPr>
          <a:xfrm>
            <a:off x="777240" y="4462272"/>
            <a:ext cx="82296" cy="82296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20"/>
          <p:cNvSpPr txBox="1"/>
          <p:nvPr/>
        </p:nvSpPr>
        <p:spPr>
          <a:xfrm>
            <a:off x="1005840" y="4517136"/>
            <a:ext cx="457200" cy="71323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D98324"/>
                </a:solidFill>
                <a:latin typeface="Microsoft YaHei"/>
                <a:ea typeface="Microsoft YaHei"/>
              </a:rPr>
              <a:t>✕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1554480" y="4507992"/>
            <a:ext cx="9692640" cy="7315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在中断里干重活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回调里别放串口打印、delay、长循环，否则主程序被拖慢。</a:t>
            </a:r>
          </a:p>
        </p:txBody>
      </p:sp>
      <p:sp>
        <p:nvSpPr>
          <p:cNvPr id="22" name="Shape22"/>
          <p:cNvSpPr/>
          <p:nvPr/>
        </p:nvSpPr>
        <p:spPr>
          <a:xfrm>
            <a:off x="777240" y="5376672"/>
            <a:ext cx="10634472" cy="8229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3" name="Shape23"/>
          <p:cNvSpPr/>
          <p:nvPr/>
        </p:nvSpPr>
        <p:spPr>
          <a:xfrm>
            <a:off x="777240" y="5376672"/>
            <a:ext cx="82296" cy="82296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" name="Text24"/>
          <p:cNvSpPr txBox="1"/>
          <p:nvPr/>
        </p:nvSpPr>
        <p:spPr>
          <a:xfrm>
            <a:off x="1005840" y="5431536"/>
            <a:ext cx="457200" cy="713232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2000" b="1" dirty="0">
                <a:solidFill>
                  <a:srgbClr val="1F5FA8"/>
                </a:solidFill>
                <a:latin typeface="Microsoft YaHei"/>
                <a:ea typeface="Microsoft YaHei"/>
              </a:rPr>
              <a:t>✕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1554480" y="5422392"/>
            <a:ext cx="9692640" cy="7315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400" b="1" dirty="0">
                <a:solidFill>
                  <a:srgbClr val="16241D"/>
                </a:solidFill>
                <a:latin typeface="Microsoft YaHei"/>
                <a:ea typeface="Microsoft YaHei"/>
              </a:rPr>
              <a:t>PSC / ARR 算错</a:t>
            </a:r>
          </a:p>
          <a:p>
            <a:pPr algn="l" marL="0" indent="0">
              <a:lnSpc>
                <a:spcPct val="100000"/>
              </a:lnSpc>
            </a:pPr>
            <a:r>
              <a:rPr lang="zh-CN" altLang="en-US" sz="1150" dirty="0">
                <a:solidFill>
                  <a:srgbClr val="63766C"/>
                </a:solidFill>
                <a:latin typeface="Microsoft YaHei"/>
                <a:ea typeface="Microsoft YaHei"/>
              </a:rPr>
              <a:t>记住公式再填，填完看一眼界面显示的周期对不对。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AF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Text4"/>
          <p:cNvSpPr txBox="1"/>
          <p:nvPr/>
        </p:nvSpPr>
        <p:spPr>
          <a:xfrm>
            <a:off x="1097280" y="960120"/>
            <a:ext cx="2743200" cy="18288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5000" b="1" dirty="0">
                <a:solidFill>
                  <a:srgbClr val="BCDCC9"/>
                </a:solidFill>
                <a:latin typeface="Microsoft YaHei"/>
                <a:ea typeface="Microsoft YaHei"/>
              </a:rPr>
              <a:t>“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2103120" y="2103120"/>
            <a:ext cx="8961120" cy="219456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15000"/>
              </a:lnSpc>
            </a:pPr>
            <a:r>
              <a:rPr lang="zh-CN" altLang="en-US" sz="3400" b="1" dirty="0">
                <a:solidFill>
                  <a:srgbClr val="16241D"/>
                </a:solidFill>
                <a:latin typeface="Microsoft YaHei"/>
                <a:ea typeface="Microsoft YaHei"/>
              </a:rPr>
              <a:t>中断不是“打断你干活”，</a:t>
            </a:r>
          </a:p>
          <a:p>
            <a:pPr algn="l" marL="0" indent="0">
              <a:lnSpc>
                <a:spcPct val="115000"/>
              </a:lnSpc>
            </a:pPr>
            <a:r>
              <a:rPr lang="zh-CN" altLang="en-US" sz="3400" b="1" dirty="0">
                <a:solidFill>
                  <a:srgbClr val="0B5D3B"/>
                </a:solidFill>
                <a:latin typeface="Microsoft YaHei"/>
                <a:ea typeface="Microsoft YaHei"/>
              </a:rPr>
              <a:t>而是“让硬件替你数数”</a:t>
            </a:r>
          </a:p>
          <a:p>
            <a:pPr algn="l" marL="0" indent="0">
              <a:lnSpc>
                <a:spcPct val="130000"/>
              </a:lnSpc>
              <a:spcBef>
                <a:spcPts val="1400"/>
              </a:spcBef>
            </a:pPr>
            <a:r>
              <a:rPr lang="zh-CN" altLang="en-US" sz="2000" dirty="0">
                <a:solidFill>
                  <a:srgbClr val="63766C"/>
                </a:solidFill>
                <a:latin typeface="Microsoft YaHei"/>
                <a:ea typeface="Microsoft YaHei"/>
              </a:rPr>
              <a:t>—— CPU 只在该出手时出手。</a:t>
            </a:r>
          </a:p>
        </p:txBody>
      </p:sp>
      <p:sp>
        <p:nvSpPr>
          <p:cNvPr id="6" name="Shape6"/>
          <p:cNvSpPr/>
          <p:nvPr/>
        </p:nvSpPr>
        <p:spPr>
          <a:xfrm>
            <a:off x="2148840" y="4663440"/>
            <a:ext cx="1371600" cy="64008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Text7"/>
          <p:cNvSpPr txBox="1"/>
          <p:nvPr/>
        </p:nvSpPr>
        <p:spPr>
          <a:xfrm>
            <a:off x="2103120" y="4892040"/>
            <a:ext cx="7315200" cy="45720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30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566928" y="475488"/>
            <a:ext cx="77724" cy="27432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Text3"/>
          <p:cNvSpPr txBox="1"/>
          <p:nvPr/>
        </p:nvSpPr>
        <p:spPr>
          <a:xfrm>
            <a:off x="777240" y="402336"/>
            <a:ext cx="7315200" cy="310896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1250" b="1" dirty="0">
                <a:solidFill>
                  <a:srgbClr val="158F63"/>
                </a:solidFill>
                <a:latin typeface="Microsoft YaHei"/>
                <a:ea typeface="Microsoft YaHei"/>
              </a:rPr>
              <a:t>10 / 动手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58952" y="694944"/>
            <a:ext cx="10515600" cy="65836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3000" b="1" dirty="0">
                <a:solidFill>
                  <a:srgbClr val="16241D"/>
                </a:solidFill>
                <a:latin typeface="Microsoft YaHei"/>
                <a:ea typeface="Microsoft YaHei"/>
              </a:rPr>
              <a:t>课堂练习（5 分钟）</a:t>
            </a:r>
          </a:p>
        </p:txBody>
      </p:sp>
      <p:sp>
        <p:nvSpPr>
          <p:cNvPr id="5" name="Shape5"/>
          <p:cNvSpPr/>
          <p:nvPr/>
        </p:nvSpPr>
        <p:spPr>
          <a:xfrm>
            <a:off x="777240" y="1463040"/>
            <a:ext cx="10972800" cy="20117"/>
          </a:xfrm>
          <a:prstGeom prst="rect">
            <a:avLst/>
          </a:prstGeom>
          <a:solidFill>
            <a:srgbClr val="DCE7E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777240" y="1783080"/>
            <a:ext cx="106344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777240" y="1783080"/>
            <a:ext cx="1325880" cy="1234440"/>
          </a:xfrm>
          <a:prstGeom prst="roundRect">
            <a:avLst>
              <a:gd name="adj" fmla="val 16000"/>
            </a:avLst>
          </a:prstGeom>
          <a:solidFill>
            <a:srgbClr val="158F63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8"/>
          <p:cNvSpPr txBox="1"/>
          <p:nvPr/>
        </p:nvSpPr>
        <p:spPr>
          <a:xfrm>
            <a:off x="822960" y="1874520"/>
            <a:ext cx="1234440" cy="10515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</a:rPr>
              <a:t>基础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2331720" y="1911096"/>
            <a:ext cx="8869680" cy="97840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5000"/>
              </a:lnSpc>
            </a:pPr>
            <a:r>
              <a:rPr lang="zh-CN" altLang="en-US" sz="1600" b="1" dirty="0">
                <a:solidFill>
                  <a:srgbClr val="16241D"/>
                </a:solidFill>
                <a:latin typeface="Microsoft YaHei"/>
                <a:ea typeface="Microsoft YaHei"/>
              </a:rPr>
              <a:t>把 LED 改成每 1 s 闪烁一次</a:t>
            </a:r>
          </a:p>
          <a:p>
            <a:pPr algn="l" marL="0" indent="0">
              <a:lnSpc>
                <a:spcPct val="115000"/>
              </a:lnSpc>
              <a:spcBef>
                <a:spcPts val="400"/>
              </a:spcBef>
            </a:pPr>
            <a:r>
              <a:rPr lang="zh-CN" altLang="en-US" sz="1200" dirty="0">
                <a:solidFill>
                  <a:srgbClr val="63766C"/>
                </a:solidFill>
                <a:latin typeface="Microsoft YaHei"/>
                <a:ea typeface="Microsoft YaHei"/>
              </a:rPr>
              <a:t>要求：不许使用 HAL_Delay。想一想 tick 该和谁比较。</a:t>
            </a:r>
          </a:p>
        </p:txBody>
      </p:sp>
      <p:sp>
        <p:nvSpPr>
          <p:cNvPr id="10" name="Shape10"/>
          <p:cNvSpPr/>
          <p:nvPr/>
        </p:nvSpPr>
        <p:spPr>
          <a:xfrm>
            <a:off x="777240" y="3154680"/>
            <a:ext cx="106344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Shape11"/>
          <p:cNvSpPr/>
          <p:nvPr/>
        </p:nvSpPr>
        <p:spPr>
          <a:xfrm>
            <a:off x="777240" y="3154680"/>
            <a:ext cx="1325880" cy="1234440"/>
          </a:xfrm>
          <a:prstGeom prst="roundRect">
            <a:avLst>
              <a:gd name="adj" fmla="val 16000"/>
            </a:avLst>
          </a:prstGeom>
          <a:solidFill>
            <a:srgbClr val="1F5FA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822960" y="3246120"/>
            <a:ext cx="1234440" cy="10515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</a:rPr>
              <a:t>进阶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2331720" y="3282696"/>
            <a:ext cx="8869680" cy="97840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5000"/>
              </a:lnSpc>
            </a:pPr>
            <a:r>
              <a:rPr lang="zh-CN" altLang="en-US" sz="1600" b="1" dirty="0">
                <a:solidFill>
                  <a:srgbClr val="16241D"/>
                </a:solidFill>
                <a:latin typeface="Microsoft YaHei"/>
                <a:ea typeface="Microsoft YaHei"/>
              </a:rPr>
              <a:t>再加一个任务：每 2 s 打印一次 tick</a:t>
            </a:r>
          </a:p>
          <a:p>
            <a:pPr algn="l" marL="0" indent="0">
              <a:lnSpc>
                <a:spcPct val="115000"/>
              </a:lnSpc>
              <a:spcBef>
                <a:spcPts val="400"/>
              </a:spcBef>
            </a:pPr>
            <a:r>
              <a:rPr lang="zh-CN" altLang="en-US" sz="1200" dirty="0">
                <a:solidFill>
                  <a:srgbClr val="63766C"/>
                </a:solidFill>
                <a:latin typeface="Microsoft YaHei"/>
                <a:ea typeface="Microsoft YaHei"/>
              </a:rPr>
              <a:t>两个任务用同一个 tick，观察它们是否互不干扰。</a:t>
            </a:r>
          </a:p>
        </p:txBody>
      </p:sp>
      <p:sp>
        <p:nvSpPr>
          <p:cNvPr id="14" name="Shape14"/>
          <p:cNvSpPr/>
          <p:nvPr/>
        </p:nvSpPr>
        <p:spPr>
          <a:xfrm>
            <a:off x="777240" y="4526280"/>
            <a:ext cx="1063447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 cap="flat">
            <a:solidFill>
              <a:srgbClr val="DCE7E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15"/>
          <p:cNvSpPr/>
          <p:nvPr/>
        </p:nvSpPr>
        <p:spPr>
          <a:xfrm>
            <a:off x="777240" y="4526280"/>
            <a:ext cx="1325880" cy="1234440"/>
          </a:xfrm>
          <a:prstGeom prst="roundRect">
            <a:avLst>
              <a:gd name="adj" fmla="val 16000"/>
            </a:avLst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16"/>
          <p:cNvSpPr txBox="1"/>
          <p:nvPr/>
        </p:nvSpPr>
        <p:spPr>
          <a:xfrm>
            <a:off x="822960" y="4617720"/>
            <a:ext cx="1234440" cy="105156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900" b="1" dirty="0">
                <a:solidFill>
                  <a:srgbClr val="FFFFFF"/>
                </a:solidFill>
                <a:latin typeface="Microsoft YaHei"/>
                <a:ea typeface="Microsoft YaHei"/>
              </a:rPr>
              <a:t>挑战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2331720" y="4654296"/>
            <a:ext cx="8869680" cy="97840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5000"/>
              </a:lnSpc>
            </a:pPr>
            <a:r>
              <a:rPr lang="zh-CN" altLang="en-US" sz="1600" b="1" dirty="0">
                <a:solidFill>
                  <a:srgbClr val="16241D"/>
                </a:solidFill>
                <a:latin typeface="Microsoft YaHei"/>
                <a:ea typeface="Microsoft YaHei"/>
              </a:rPr>
              <a:t>用 tick 量出“按键按了多久”</a:t>
            </a:r>
          </a:p>
          <a:p>
            <a:pPr algn="l" marL="0" indent="0">
              <a:lnSpc>
                <a:spcPct val="115000"/>
              </a:lnSpc>
              <a:spcBef>
                <a:spcPts val="400"/>
              </a:spcBef>
            </a:pPr>
            <a:r>
              <a:rPr lang="zh-CN" altLang="en-US" sz="1200" dirty="0">
                <a:solidFill>
                  <a:srgbClr val="63766C"/>
                </a:solidFill>
                <a:latin typeface="Microsoft YaHei"/>
                <a:ea typeface="Microsoft YaHei"/>
              </a:rPr>
              <a:t>按下时记一次 tick，松开时再记一次，相减就是毫秒数。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77240" y="5897880"/>
            <a:ext cx="10634472" cy="384048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ctr" marL="0" indent="0">
              <a:lnSpc>
                <a:spcPct val="100000"/>
              </a:lnSpc>
            </a:pPr>
            <a:r>
              <a:rPr lang="zh-CN" altLang="en-US" sz="1200" dirty="0">
                <a:solidFill>
                  <a:srgbClr val="0B5D3B"/>
                </a:solidFill>
                <a:latin typeface="Microsoft YaHei"/>
                <a:ea typeface="Microsoft YaHei"/>
              </a:rPr>
              <a:t>写完可以对照下一节课的“答案代码”自查；遇到问题先看第 12 页的五个坑。</a:t>
            </a:r>
          </a:p>
        </p:txBody>
      </p:sp>
      <p:sp>
        <p:nvSpPr>
          <p:cNvPr id="19" name="Text19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63766C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63766C"/>
                </a:solidFill>
                <a:latin typeface="Microsoft YaHei"/>
                <a:ea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D3B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3"/>
          <p:cNvSpPr/>
          <p:nvPr/>
        </p:nvSpPr>
        <p:spPr>
          <a:xfrm>
            <a:off x="0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4"/>
          <p:cNvSpPr/>
          <p:nvPr/>
        </p:nvSpPr>
        <p:spPr>
          <a:xfrm>
            <a:off x="1755648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5"/>
          <p:cNvSpPr/>
          <p:nvPr/>
        </p:nvSpPr>
        <p:spPr>
          <a:xfrm>
            <a:off x="3511296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6"/>
          <p:cNvSpPr/>
          <p:nvPr/>
        </p:nvSpPr>
        <p:spPr>
          <a:xfrm>
            <a:off x="5266944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7"/>
          <p:cNvSpPr/>
          <p:nvPr/>
        </p:nvSpPr>
        <p:spPr>
          <a:xfrm>
            <a:off x="7022592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Shape8"/>
          <p:cNvSpPr/>
          <p:nvPr/>
        </p:nvSpPr>
        <p:spPr>
          <a:xfrm>
            <a:off x="8778240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" name="Shape9"/>
          <p:cNvSpPr/>
          <p:nvPr/>
        </p:nvSpPr>
        <p:spPr>
          <a:xfrm>
            <a:off x="10533888" y="0"/>
            <a:ext cx="822960" cy="82296"/>
          </a:xfrm>
          <a:prstGeom prst="rect">
            <a:avLst/>
          </a:prstGeom>
          <a:solidFill>
            <a:srgbClr val="2E8F6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" name="Text10"/>
          <p:cNvSpPr txBox="1"/>
          <p:nvPr/>
        </p:nvSpPr>
        <p:spPr>
          <a:xfrm>
            <a:off x="1188720" y="1554480"/>
            <a:ext cx="9784080" cy="201168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ctr" marL="0" indent="0">
              <a:lnSpc>
                <a:spcPct val="105000"/>
              </a:lnSpc>
            </a:pP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谢谢观看</a:t>
            </a:r>
          </a:p>
          <a:p>
            <a:pPr algn="ctr" marL="0" indent="0">
              <a:lnSpc>
                <a:spcPct val="130000"/>
              </a:lnSpc>
              <a:spcBef>
                <a:spcPts val="1000"/>
              </a:spcBef>
            </a:pPr>
            <a:r>
              <a:rPr lang="zh-CN" altLang="en-US" sz="2000" dirty="0">
                <a:solidFill>
                  <a:srgbClr val="BEE6D2"/>
                </a:solidFill>
                <a:latin typeface="Microsoft YaHei"/>
                <a:ea typeface="Microsoft YaHei"/>
              </a:rPr>
              <a:t>把延时交给硬件，把注意力留给真正的问题</a:t>
            </a:r>
          </a:p>
        </p:txBody>
      </p:sp>
      <p:sp>
        <p:nvSpPr>
          <p:cNvPr id="11" name="Shape11"/>
          <p:cNvSpPr/>
          <p:nvPr/>
        </p:nvSpPr>
        <p:spPr>
          <a:xfrm>
            <a:off x="5120640" y="3794760"/>
            <a:ext cx="1947672" cy="82296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12"/>
          <p:cNvSpPr txBox="1"/>
          <p:nvPr/>
        </p:nvSpPr>
        <p:spPr>
          <a:xfrm>
            <a:off x="1188720" y="4206240"/>
            <a:ext cx="9784080" cy="1463040"/>
          </a:xfrm>
          <a:prstGeom prst="rect">
            <a:avLst/>
          </a:prstGeom>
          <a:noFill/>
        </p:spPr>
        <p:txBody>
          <a:bodyPr wrap="square" lIns="54864" tIns="27432" rIns="54864" bIns="27432" anchor="t" normAutofit="0">
            <a:noAutofit/>
          </a:bodyPr>
          <a:lstStyle/>
          <a:p>
            <a:pPr algn="ctr" marL="0" indent="0">
              <a:lnSpc>
                <a:spcPct val="140000"/>
              </a:lnSpc>
            </a:pPr>
            <a:r>
              <a:rPr lang="zh-CN" altLang="en-US" sz="1400" dirty="0">
                <a:solidFill>
                  <a:srgbClr val="9FD8BE"/>
                </a:solidFill>
                <a:latin typeface="Microsoft YaHei"/>
                <a:ea typeface="Microsoft YaHei"/>
              </a:rPr>
              <a:t>机协教学部 · 内训示范课件</a:t>
            </a:r>
          </a:p>
          <a:p>
            <a:pPr algn="ctr" marL="0" indent="0">
              <a:lnSpc>
                <a:spcPct val="140000"/>
              </a:lnSpc>
            </a:pPr>
            <a:r>
              <a:rPr lang="zh-CN" altLang="en-US" sz="1400" dirty="0">
                <a:solidFill>
                  <a:srgbClr val="9FD8BE"/>
                </a:solidFill>
                <a:latin typeface="Microsoft YaHei"/>
                <a:ea typeface="Microsoft YaHei"/>
              </a:rPr>
              <a:t>主讲：储锐超    |    学号：3260101888</a:t>
            </a:r>
          </a:p>
          <a:p>
            <a:pPr algn="ctr" marL="0" indent="0">
              <a:lnSpc>
                <a:spcPct val="140000"/>
              </a:lnSpc>
            </a:pPr>
            <a:r>
              <a:rPr lang="zh-CN" altLang="en-US" sz="1300" dirty="0">
                <a:solidFill>
                  <a:srgbClr val="6FB894"/>
                </a:solidFill>
                <a:latin typeface="Microsoft YaHei"/>
                <a:ea typeface="Microsoft YaHei"/>
              </a:rPr>
              <a:t>2026 纳新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77240" y="6345936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l" marL="0" indent="0">
              <a:lnSpc>
                <a:spcPct val="100000"/>
              </a:lnSpc>
            </a:pPr>
            <a:r>
              <a:rPr lang="zh-CN" altLang="en-US" sz="950" dirty="0">
                <a:solidFill>
                  <a:srgbClr val="9FD8BE"/>
                </a:solidFill>
                <a:latin typeface="Microsoft YaHei"/>
                <a:ea typeface="Microsoft YaHei"/>
              </a:rPr>
              <a:t>机协教学部内训示范课件 · 储锐超 3260101888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11018520" y="6345936"/>
            <a:ext cx="548640" cy="274320"/>
          </a:xfrm>
          <a:prstGeom prst="rect">
            <a:avLst/>
          </a:prstGeom>
          <a:noFill/>
        </p:spPr>
        <p:txBody>
          <a:bodyPr wrap="square" lIns="54864" tIns="27432" rIns="54864" bIns="27432" anchor="ctr" normAutofit="0">
            <a:noAutofit/>
          </a:bodyPr>
          <a:lstStyle/>
          <a:p>
            <a:pPr algn="r" marL="0" indent="0">
              <a:lnSpc>
                <a:spcPct val="100000"/>
              </a:lnSpc>
            </a:pPr>
            <a:r>
              <a:rPr lang="zh-CN" altLang="en-US" sz="950" b="1" dirty="0">
                <a:solidFill>
                  <a:srgbClr val="9FD8BE"/>
                </a:solidFill>
                <a:latin typeface="Microsoft YaHei"/>
                <a:ea typeface="Microsoft YaHe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Green">
  <a:themeElements>
    <a:clrScheme name="Academic Green">
      <a:dk1>
        <a:sysClr val="windowText" lastClr="000000"/>
      </a:dk1>
      <a:lt1>
        <a:sysClr val="window" lastClr="FFFFFF"/>
      </a:lt1>
      <a:dk2>
        <a:srgbClr val="052E1B"/>
      </a:dk2>
      <a:lt2>
        <a:srgbClr val="F0FDF4"/>
      </a:lt2>
      <a:accent1>
        <a:srgbClr val="047857"/>
      </a:accent1>
      <a:accent2>
        <a:srgbClr val="10B981"/>
      </a:accent2>
      <a:accent3>
        <a:srgbClr val="F59E0B"/>
      </a:accent3>
      <a:accent4>
        <a:srgbClr val="3B82F6"/>
      </a:accent4>
      <a:accent5>
        <a:srgbClr val="DC2626"/>
      </a:accent5>
      <a:accent6>
        <a:srgbClr val="0D9488"/>
      </a:accent6>
      <a:hlink>
        <a:srgbClr val="047857"/>
      </a:hlink>
      <a:folHlink>
        <a:srgbClr val="0D9488"/>
      </a:folHlink>
    </a:clrScheme>
    <a:fontScheme name="Station">
      <a:majorFont>
        <a:latin typeface="Segoe UI"/>
        <a:ea typeface="Microsoft YaHei"/>
        <a:cs typeface=""/>
      </a:majorFont>
      <a:minorFont>
        <a:latin typeface="Segoe UI"/>
        <a:ea typeface="Microsoft YaHei"/>
        <a:cs typeface=""/>
      </a:minorFont>
    </a:fontScheme>
    <a:fmtScheme name="Stati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20000"/>
              </a:schemeClr>
            </a:gs>
            <a:gs pos="100000">
              <a:schemeClr val="phClr">
                <a:shade val="80000"/>
                <a:sat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tint val="98000"/>
                <a:satMod val="130000"/>
                <a:shade val="90000"/>
                <a:lumMod val="10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PPT-Station</Application>
  <Slides>14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STM32 定时器与中断入门</dc:title>
  <dc:creator>储锐超 · 机协教学部</dc:creator>
  <cp:lastModifiedBy>储锐超 · 机协教学部</cp:lastModifiedBy>
  <dcterms:created xsi:type="dcterms:W3CDTF">2026-10-08T11:39:23Z</dcterms:created>
  <dcterms:modified xsi:type="dcterms:W3CDTF">2026-10-08T11:39:23Z</dcterms:modified>
</cp:coreProperties>
</file>